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3" r:id="rId3"/>
  </p:sldMasterIdLst>
  <p:notesMasterIdLst>
    <p:notesMasterId r:id="rId7"/>
  </p:notesMasterIdLst>
  <p:sldIdLst>
    <p:sldId id="283" r:id="rId4"/>
    <p:sldId id="284" r:id="rId5"/>
    <p:sldId id="28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569" autoAdjust="0"/>
  </p:normalViewPr>
  <p:slideViewPr>
    <p:cSldViewPr snapToGrid="0">
      <p:cViewPr varScale="1">
        <p:scale>
          <a:sx n="145" d="100"/>
          <a:sy n="145" d="100"/>
        </p:scale>
        <p:origin x="10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03D83-1E2F-47BE-8B61-0C18CF3606C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EFE8C-2426-4FD1-9EBE-F2758391C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564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E76D3-4849-3B60-846F-FCC3B6A9E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02743-3DD9-9D6A-EE5E-609AD4138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CB952-F227-D564-67B8-2E29A24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90A01-A203-0A4C-D707-F6865550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A4931-A79C-582A-FEF2-95075403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3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CAF4C-3DF5-9540-84D0-2B62C3011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7CEBA-8BD7-11C0-0F38-B41B85C75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7A9C2-6EAA-9515-FC05-5D0D7AFB9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C76D0-59A8-EB3D-0FB2-538540CB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7FEB8-4B7B-E0BC-51E5-3C3A9D93D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4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6727-11CC-18D7-0773-1E556BEE3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2B5C-6F75-3B6C-D0C4-8C5C5A2E8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7481C-DCD5-503A-D383-1B32E531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B2E6D-C770-EA92-5B4F-69B2AAAE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DEBF-A066-CE92-75CD-BCF7D3B5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29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1C70-8701-0A9E-8A1B-7849425C8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1563A-B40F-98EC-74D0-D8A7B1C70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AA736-B92D-36FF-1398-BFC1E01A1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B1BAE-706F-EA03-D867-3DF14C02C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FA7BC-3FFE-7D1D-4B52-AADAC1D55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80AF2-53D6-F8B1-0EC9-4488EEE0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B120-F79E-24EE-1837-5AE7DF05E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79EB6-D98F-10A7-1C0E-392259C9A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39058-289B-C3F4-2DEE-5032C7908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8FA593-4CEA-6BFF-1FC1-690A4E21C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C0B81-85FE-3EFD-32F5-9E7E2299F3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C4F954-D07F-2BFD-A2E7-659D9559A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66A1E2-1CAA-776F-7CE3-B684B188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FF310-8801-7194-FDD1-D06CCA14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2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7039-D2DF-2E4A-08FE-B354A2D7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3CF06-7EF7-E1FF-24B9-8A7ECB949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0B3FA-C1C7-278A-730B-5DC4FC366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551E0-88C2-0189-D265-B555F6C0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5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EC6EC-610B-8013-E74D-FBE0ADED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64BBB0-5656-4C16-8A50-D49E415C9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A4CA7-0A38-21EC-901E-50DA7EE6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8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DCF1-19A6-6FE9-6E6B-25E668CC2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AE9FE-4480-6AAB-464E-6BD6C3B6A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92CEF-5B3F-9159-7D4D-F2E276A02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CA6CA-78DC-5B70-BDC7-8140C8FA3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66ADD-7F1D-4433-E7EA-A2EB8794A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E822B-6C4B-4D85-8274-98377CFC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4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642B-324C-F1B5-1EBE-6E2F8172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E30B7-DACC-50F7-C177-D51BCE79E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10921-19D0-2FC5-FD7C-2CF22720D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8EB0-2F93-E95C-22F7-A4FB7E178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C40FD-2CE7-5CC5-72E4-560498138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F9EB5-E2FA-6EC8-A235-07C66F23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41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4B968-B303-32BB-B6E5-8A7855C2C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5E4B4-B83C-A978-233B-4CAD3FD68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0320F-FC4B-F50C-4A51-29097F9E2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C3AFB-7EE6-5061-A9C9-164324289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27BB4-1C55-0FA4-64E2-BB1174DF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89204-8619-C551-4375-2712738E52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7EAA9-D11D-8C37-EC4B-3F9E9BCC0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02156-D598-432E-0D5A-839469454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9986C-6130-9E78-71A9-BF4B1379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30B4A-E3B2-D430-748A-8B4FD7DD4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63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1"/>
            <a:ext cx="12201373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0738" y="2130702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14488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2669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412655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7287" y="2370889"/>
            <a:ext cx="744262" cy="761910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400083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5"/>
            <a:ext cx="12192669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3057" y="2323659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22226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2669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646" y="907093"/>
            <a:ext cx="6557247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6733" y="1657695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897" y="1949372"/>
            <a:ext cx="653329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231" y="6227191"/>
            <a:ext cx="1616538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82153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tif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C8FA22-E43D-AEF8-6AD5-56CF884E5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11E4-B394-A2DC-14D7-EB99B41DC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E9A64-38F7-9BDF-6059-43187626F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8D915-EB44-4743-BB40-3381A8D1C4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7D402-4F75-7DBB-785C-72330FCA4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1A9B8-2795-A240-BE27-70C988A13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D164E-2F21-44B0-B2B1-697333A8C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4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965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4"/>
            <a:ext cx="12192000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9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155" y="5970991"/>
            <a:ext cx="2259917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6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ftr="0" dt="0"/>
  <p:txStyles>
    <p:titleStyle>
      <a:lvl1pPr algn="l" defTabSz="914034" rtl="0" eaLnBrk="1" latinLnBrk="0" hangingPunct="1">
        <a:lnSpc>
          <a:spcPts val="3439"/>
        </a:lnSpc>
        <a:spcBef>
          <a:spcPct val="0"/>
        </a:spcBef>
        <a:buNone/>
        <a:defRPr sz="3199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034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017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034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051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068" indent="0" algn="l" defTabSz="914034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8646" y="907093"/>
            <a:ext cx="6940337" cy="690255"/>
          </a:xfrm>
        </p:spPr>
        <p:txBody>
          <a:bodyPr>
            <a:normAutofit/>
          </a:bodyPr>
          <a:lstStyle/>
          <a:p>
            <a:r>
              <a:rPr lang="en-US" altLang="zh-CN" dirty="0"/>
              <a:t>OPEN AN UC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566F3-A3A5-4146-9236-C652EFF2FB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Security Level:</a:t>
            </a:r>
            <a:endParaRPr lang="en-US" dirty="0"/>
          </a:p>
          <a:p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8273BB-CA36-4347-A7E0-1B9624E823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F9C7E06-0300-43E5-8FAD-E1D28124D01E}"/>
              </a:ext>
            </a:extLst>
          </p:cNvPr>
          <p:cNvSpPr txBox="1"/>
          <p:nvPr/>
        </p:nvSpPr>
        <p:spPr>
          <a:xfrm>
            <a:off x="199500" y="118082"/>
            <a:ext cx="1199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OPEN AN-based electricity price collaboration for energy saving solution---For MTN Power Band Energy Saving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175A48-BBCD-4AF1-9D28-FCD2BE96A4D2}"/>
              </a:ext>
            </a:extLst>
          </p:cNvPr>
          <p:cNvSpPr/>
          <p:nvPr/>
        </p:nvSpPr>
        <p:spPr>
          <a:xfrm>
            <a:off x="1474539" y="3059231"/>
            <a:ext cx="6013649" cy="2956568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/>
          <a:lstStyle/>
          <a:p>
            <a:pPr algn="ctr" defTabSz="913130"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/>
                <a:ea typeface="微软雅黑"/>
              </a:rPr>
              <a:t>  MAE</a:t>
            </a:r>
          </a:p>
          <a:p>
            <a:pPr algn="ctr" defTabSz="913130">
              <a:defRPr/>
            </a:pPr>
            <a:endParaRPr lang="en-US" altLang="zh-CN" sz="1000" b="1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algn="ctr" defTabSz="913130"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/>
                <a:ea typeface="微软雅黑"/>
              </a:rPr>
              <a:t> </a:t>
            </a:r>
          </a:p>
          <a:p>
            <a:pPr algn="ctr" defTabSz="913130">
              <a:defRPr/>
            </a:pPr>
            <a:endParaRPr lang="en-US" altLang="zh-CN" sz="1000" b="1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algn="ctr" defTabSz="913130">
              <a:defRPr/>
            </a:pPr>
            <a:endParaRPr lang="en-US" altLang="zh-CN" sz="1000" b="1" kern="0" dirty="0">
              <a:solidFill>
                <a:srgbClr val="1D1D1A"/>
              </a:solidFill>
              <a:latin typeface="微软雅黑"/>
              <a:ea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A87E2C-A6A8-4E21-A95F-9AC4C8665D78}"/>
              </a:ext>
            </a:extLst>
          </p:cNvPr>
          <p:cNvSpPr txBox="1"/>
          <p:nvPr/>
        </p:nvSpPr>
        <p:spPr>
          <a:xfrm>
            <a:off x="3764647" y="2871551"/>
            <a:ext cx="7167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A2A-T</a:t>
            </a:r>
            <a:endParaRPr lang="zh-CN" altLang="en-US" sz="3200" dirty="0">
              <a:solidFill>
                <a:srgbClr val="1D1D1A"/>
              </a:solidFill>
              <a:latin typeface="Calibri" panose="020F0502020204030204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EDF1DE-05AF-4D38-ACBA-F22E8D6B8FC0}"/>
              </a:ext>
            </a:extLst>
          </p:cNvPr>
          <p:cNvSpPr/>
          <p:nvPr/>
        </p:nvSpPr>
        <p:spPr>
          <a:xfrm>
            <a:off x="1478322" y="802741"/>
            <a:ext cx="5989278" cy="210199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/>
          <a:lstStyle/>
          <a:p>
            <a:pPr algn="ctr" defTabSz="913130"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/>
                <a:ea typeface="微软雅黑"/>
              </a:rPr>
              <a:t>OSS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7875650-1031-4BD7-BCE8-1CA0B72A2876}"/>
              </a:ext>
            </a:extLst>
          </p:cNvPr>
          <p:cNvGrpSpPr/>
          <p:nvPr/>
        </p:nvGrpSpPr>
        <p:grpSpPr>
          <a:xfrm>
            <a:off x="1721838" y="970174"/>
            <a:ext cx="5558670" cy="1852439"/>
            <a:chOff x="835564" y="1323367"/>
            <a:chExt cx="1960166" cy="128428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9A0CD0F-492C-4C70-A09E-AC61EA781993}"/>
                </a:ext>
              </a:extLst>
            </p:cNvPr>
            <p:cNvSpPr/>
            <p:nvPr/>
          </p:nvSpPr>
          <p:spPr>
            <a:xfrm>
              <a:off x="835564" y="1323367"/>
              <a:ext cx="1960166" cy="1284287"/>
            </a:xfrm>
            <a:prstGeom prst="rect">
              <a:avLst/>
            </a:prstGeom>
            <a:noFill/>
            <a:ln w="12700" cap="flat" cmpd="sng" algn="ctr">
              <a:solidFill>
                <a:srgbClr val="DDDDDD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31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</a:rPr>
                <a:t>OSS </a:t>
              </a: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</a:rPr>
                <a:t>Agents&amp;Apps</a:t>
              </a:r>
              <a:endParaRPr kumimoji="0" lang="zh-CN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22911CB-ABE3-4E41-B6D0-6BD38545419C}"/>
                </a:ext>
              </a:extLst>
            </p:cNvPr>
            <p:cNvSpPr/>
            <p:nvPr/>
          </p:nvSpPr>
          <p:spPr>
            <a:xfrm>
              <a:off x="906794" y="1471613"/>
              <a:ext cx="1815248" cy="1055825"/>
            </a:xfrm>
            <a:prstGeom prst="rect">
              <a:avLst/>
            </a:prstGeom>
            <a:solidFill>
              <a:srgbClr val="D4F1F5"/>
            </a:solidFill>
            <a:ln w="6350" cap="flat" cmpd="sng" algn="ctr">
              <a:solidFill>
                <a:srgbClr val="DDDDDD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0" rIns="91404" bIns="45702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Scenario-based energy saving UC</a:t>
              </a:r>
            </a:p>
          </p:txBody>
        </p:sp>
      </p:grpSp>
      <p:grpSp>
        <p:nvGrpSpPr>
          <p:cNvPr id="10" name="Group 56">
            <a:extLst>
              <a:ext uri="{FF2B5EF4-FFF2-40B4-BE49-F238E27FC236}">
                <a16:creationId xmlns:a16="http://schemas.microsoft.com/office/drawing/2014/main" id="{3BC22F57-E0E6-4000-A4DF-0E7E3757737E}"/>
              </a:ext>
            </a:extLst>
          </p:cNvPr>
          <p:cNvGrpSpPr/>
          <p:nvPr/>
        </p:nvGrpSpPr>
        <p:grpSpPr>
          <a:xfrm>
            <a:off x="460590" y="1442941"/>
            <a:ext cx="436767" cy="496426"/>
            <a:chOff x="3735388" y="3554082"/>
            <a:chExt cx="184150" cy="220684"/>
          </a:xfrm>
          <a:solidFill>
            <a:srgbClr val="011179"/>
          </a:solidFill>
        </p:grpSpPr>
        <p:sp>
          <p:nvSpPr>
            <p:cNvPr id="11" name="Freeform: Shape 57">
              <a:extLst>
                <a:ext uri="{FF2B5EF4-FFF2-40B4-BE49-F238E27FC236}">
                  <a16:creationId xmlns:a16="http://schemas.microsoft.com/office/drawing/2014/main" id="{8C2B1F5A-F25D-49FD-8739-1E66E5550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498" y="3554082"/>
              <a:ext cx="104776" cy="104775"/>
            </a:xfrm>
            <a:custGeom>
              <a:avLst/>
              <a:gdLst/>
              <a:ahLst/>
              <a:cxnLst>
                <a:cxn ang="0">
                  <a:pos x="21" y="41"/>
                </a:cxn>
                <a:cxn ang="0">
                  <a:pos x="41" y="21"/>
                </a:cxn>
                <a:cxn ang="0">
                  <a:pos x="21" y="0"/>
                </a:cxn>
                <a:cxn ang="0">
                  <a:pos x="0" y="21"/>
                </a:cxn>
                <a:cxn ang="0">
                  <a:pos x="21" y="41"/>
                </a:cxn>
                <a:cxn ang="0">
                  <a:pos x="21" y="6"/>
                </a:cxn>
                <a:cxn ang="0">
                  <a:pos x="36" y="21"/>
                </a:cxn>
                <a:cxn ang="0">
                  <a:pos x="21" y="36"/>
                </a:cxn>
                <a:cxn ang="0">
                  <a:pos x="6" y="21"/>
                </a:cxn>
                <a:cxn ang="0">
                  <a:pos x="21" y="6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32" y="41"/>
                    <a:pt x="41" y="32"/>
                    <a:pt x="41" y="21"/>
                  </a:cubicBezTo>
                  <a:cubicBezTo>
                    <a:pt x="41" y="9"/>
                    <a:pt x="32" y="0"/>
                    <a:pt x="21" y="0"/>
                  </a:cubicBezTo>
                  <a:cubicBezTo>
                    <a:pt x="10" y="0"/>
                    <a:pt x="0" y="9"/>
                    <a:pt x="0" y="21"/>
                  </a:cubicBezTo>
                  <a:cubicBezTo>
                    <a:pt x="0" y="32"/>
                    <a:pt x="10" y="41"/>
                    <a:pt x="21" y="41"/>
                  </a:cubicBezTo>
                  <a:close/>
                  <a:moveTo>
                    <a:pt x="21" y="6"/>
                  </a:moveTo>
                  <a:cubicBezTo>
                    <a:pt x="29" y="6"/>
                    <a:pt x="36" y="12"/>
                    <a:pt x="36" y="21"/>
                  </a:cubicBezTo>
                  <a:cubicBezTo>
                    <a:pt x="36" y="29"/>
                    <a:pt x="29" y="36"/>
                    <a:pt x="21" y="36"/>
                  </a:cubicBezTo>
                  <a:cubicBezTo>
                    <a:pt x="12" y="36"/>
                    <a:pt x="6" y="29"/>
                    <a:pt x="6" y="21"/>
                  </a:cubicBezTo>
                  <a:cubicBezTo>
                    <a:pt x="6" y="12"/>
                    <a:pt x="12" y="6"/>
                    <a:pt x="21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defTabSz="911478">
                <a:defRPr/>
              </a:pPr>
              <a:endParaRPr sz="1000" b="1" kern="0">
                <a:solidFill>
                  <a:srgbClr val="1D1D1A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: Shape 58">
              <a:extLst>
                <a:ext uri="{FF2B5EF4-FFF2-40B4-BE49-F238E27FC236}">
                  <a16:creationId xmlns:a16="http://schemas.microsoft.com/office/drawing/2014/main" id="{B0BB1A2C-711A-4510-9B9E-5BD710318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388" y="3666816"/>
              <a:ext cx="184150" cy="107950"/>
            </a:xfrm>
            <a:custGeom>
              <a:avLst/>
              <a:gdLst/>
              <a:ahLst/>
              <a:cxnLst>
                <a:cxn ang="0">
                  <a:pos x="71" y="19"/>
                </a:cxn>
                <a:cxn ang="0">
                  <a:pos x="48" y="0"/>
                </a:cxn>
                <a:cxn ang="0">
                  <a:pos x="45" y="1"/>
                </a:cxn>
                <a:cxn ang="0">
                  <a:pos x="36" y="1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36" y="42"/>
                </a:cxn>
                <a:cxn ang="0">
                  <a:pos x="71" y="21"/>
                </a:cxn>
                <a:cxn ang="0">
                  <a:pos x="71" y="19"/>
                </a:cxn>
                <a:cxn ang="0">
                  <a:pos x="49" y="6"/>
                </a:cxn>
                <a:cxn ang="0">
                  <a:pos x="53" y="8"/>
                </a:cxn>
                <a:cxn ang="0">
                  <a:pos x="44" y="20"/>
                </a:cxn>
                <a:cxn ang="0">
                  <a:pos x="42" y="18"/>
                </a:cxn>
                <a:cxn ang="0">
                  <a:pos x="39" y="16"/>
                </a:cxn>
                <a:cxn ang="0">
                  <a:pos x="49" y="6"/>
                </a:cxn>
                <a:cxn ang="0">
                  <a:pos x="32" y="16"/>
                </a:cxn>
                <a:cxn ang="0">
                  <a:pos x="29" y="18"/>
                </a:cxn>
                <a:cxn ang="0">
                  <a:pos x="28" y="20"/>
                </a:cxn>
                <a:cxn ang="0">
                  <a:pos x="19" y="8"/>
                </a:cxn>
                <a:cxn ang="0">
                  <a:pos x="23" y="6"/>
                </a:cxn>
                <a:cxn ang="0">
                  <a:pos x="32" y="16"/>
                </a:cxn>
                <a:cxn ang="0">
                  <a:pos x="38" y="36"/>
                </a:cxn>
                <a:cxn ang="0">
                  <a:pos x="38" y="24"/>
                </a:cxn>
                <a:cxn ang="0">
                  <a:pos x="36" y="23"/>
                </a:cxn>
                <a:cxn ang="0">
                  <a:pos x="34" y="24"/>
                </a:cxn>
                <a:cxn ang="0">
                  <a:pos x="34" y="36"/>
                </a:cxn>
                <a:cxn ang="0">
                  <a:pos x="6" y="20"/>
                </a:cxn>
                <a:cxn ang="0">
                  <a:pos x="16" y="10"/>
                </a:cxn>
                <a:cxn ang="0">
                  <a:pos x="27" y="23"/>
                </a:cxn>
                <a:cxn ang="0">
                  <a:pos x="29" y="23"/>
                </a:cxn>
                <a:cxn ang="0">
                  <a:pos x="32" y="21"/>
                </a:cxn>
                <a:cxn ang="0">
                  <a:pos x="36" y="18"/>
                </a:cxn>
                <a:cxn ang="0">
                  <a:pos x="40" y="21"/>
                </a:cxn>
                <a:cxn ang="0">
                  <a:pos x="43" y="23"/>
                </a:cxn>
                <a:cxn ang="0">
                  <a:pos x="44" y="24"/>
                </a:cxn>
                <a:cxn ang="0">
                  <a:pos x="45" y="23"/>
                </a:cxn>
                <a:cxn ang="0">
                  <a:pos x="56" y="10"/>
                </a:cxn>
                <a:cxn ang="0">
                  <a:pos x="66" y="20"/>
                </a:cxn>
                <a:cxn ang="0">
                  <a:pos x="38" y="36"/>
                </a:cxn>
              </a:cxnLst>
              <a:rect l="0" t="0" r="r" b="b"/>
              <a:pathLst>
                <a:path w="72" h="42">
                  <a:moveTo>
                    <a:pt x="71" y="19"/>
                  </a:moveTo>
                  <a:cubicBezTo>
                    <a:pt x="66" y="10"/>
                    <a:pt x="58" y="3"/>
                    <a:pt x="48" y="0"/>
                  </a:cubicBezTo>
                  <a:cubicBezTo>
                    <a:pt x="47" y="0"/>
                    <a:pt x="46" y="0"/>
                    <a:pt x="45" y="1"/>
                  </a:cubicBezTo>
                  <a:cubicBezTo>
                    <a:pt x="43" y="6"/>
                    <a:pt x="40" y="9"/>
                    <a:pt x="36" y="12"/>
                  </a:cubicBezTo>
                  <a:cubicBezTo>
                    <a:pt x="32" y="9"/>
                    <a:pt x="29" y="6"/>
                    <a:pt x="27" y="1"/>
                  </a:cubicBezTo>
                  <a:cubicBezTo>
                    <a:pt x="26" y="0"/>
                    <a:pt x="25" y="0"/>
                    <a:pt x="24" y="0"/>
                  </a:cubicBezTo>
                  <a:cubicBezTo>
                    <a:pt x="14" y="3"/>
                    <a:pt x="6" y="10"/>
                    <a:pt x="0" y="19"/>
                  </a:cubicBezTo>
                  <a:cubicBezTo>
                    <a:pt x="0" y="19"/>
                    <a:pt x="0" y="20"/>
                    <a:pt x="0" y="21"/>
                  </a:cubicBezTo>
                  <a:cubicBezTo>
                    <a:pt x="8" y="34"/>
                    <a:pt x="21" y="42"/>
                    <a:pt x="36" y="42"/>
                  </a:cubicBezTo>
                  <a:cubicBezTo>
                    <a:pt x="50" y="42"/>
                    <a:pt x="64" y="34"/>
                    <a:pt x="71" y="21"/>
                  </a:cubicBezTo>
                  <a:cubicBezTo>
                    <a:pt x="72" y="20"/>
                    <a:pt x="72" y="19"/>
                    <a:pt x="71" y="19"/>
                  </a:cubicBezTo>
                  <a:close/>
                  <a:moveTo>
                    <a:pt x="49" y="6"/>
                  </a:moveTo>
                  <a:cubicBezTo>
                    <a:pt x="50" y="6"/>
                    <a:pt x="52" y="7"/>
                    <a:pt x="53" y="8"/>
                  </a:cubicBezTo>
                  <a:cubicBezTo>
                    <a:pt x="51" y="12"/>
                    <a:pt x="48" y="16"/>
                    <a:pt x="44" y="20"/>
                  </a:cubicBezTo>
                  <a:cubicBezTo>
                    <a:pt x="43" y="19"/>
                    <a:pt x="43" y="19"/>
                    <a:pt x="42" y="18"/>
                  </a:cubicBezTo>
                  <a:cubicBezTo>
                    <a:pt x="41" y="18"/>
                    <a:pt x="40" y="17"/>
                    <a:pt x="39" y="16"/>
                  </a:cubicBezTo>
                  <a:cubicBezTo>
                    <a:pt x="43" y="13"/>
                    <a:pt x="46" y="10"/>
                    <a:pt x="49" y="6"/>
                  </a:cubicBezTo>
                  <a:close/>
                  <a:moveTo>
                    <a:pt x="32" y="16"/>
                  </a:moveTo>
                  <a:cubicBezTo>
                    <a:pt x="31" y="17"/>
                    <a:pt x="30" y="18"/>
                    <a:pt x="29" y="18"/>
                  </a:cubicBezTo>
                  <a:cubicBezTo>
                    <a:pt x="29" y="19"/>
                    <a:pt x="28" y="19"/>
                    <a:pt x="28" y="20"/>
                  </a:cubicBezTo>
                  <a:cubicBezTo>
                    <a:pt x="24" y="16"/>
                    <a:pt x="21" y="12"/>
                    <a:pt x="19" y="8"/>
                  </a:cubicBezTo>
                  <a:cubicBezTo>
                    <a:pt x="20" y="7"/>
                    <a:pt x="22" y="6"/>
                    <a:pt x="23" y="6"/>
                  </a:cubicBezTo>
                  <a:cubicBezTo>
                    <a:pt x="25" y="10"/>
                    <a:pt x="29" y="13"/>
                    <a:pt x="32" y="16"/>
                  </a:cubicBezTo>
                  <a:close/>
                  <a:moveTo>
                    <a:pt x="38" y="36"/>
                  </a:moveTo>
                  <a:cubicBezTo>
                    <a:pt x="38" y="24"/>
                    <a:pt x="38" y="24"/>
                    <a:pt x="38" y="24"/>
                  </a:cubicBezTo>
                  <a:cubicBezTo>
                    <a:pt x="38" y="23"/>
                    <a:pt x="37" y="23"/>
                    <a:pt x="36" y="23"/>
                  </a:cubicBezTo>
                  <a:cubicBezTo>
                    <a:pt x="35" y="23"/>
                    <a:pt x="34" y="23"/>
                    <a:pt x="34" y="2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23" y="36"/>
                    <a:pt x="12" y="30"/>
                    <a:pt x="6" y="20"/>
                  </a:cubicBezTo>
                  <a:cubicBezTo>
                    <a:pt x="8" y="16"/>
                    <a:pt x="12" y="12"/>
                    <a:pt x="16" y="10"/>
                  </a:cubicBezTo>
                  <a:cubicBezTo>
                    <a:pt x="18" y="14"/>
                    <a:pt x="22" y="19"/>
                    <a:pt x="27" y="23"/>
                  </a:cubicBezTo>
                  <a:cubicBezTo>
                    <a:pt x="27" y="24"/>
                    <a:pt x="28" y="24"/>
                    <a:pt x="29" y="23"/>
                  </a:cubicBezTo>
                  <a:cubicBezTo>
                    <a:pt x="30" y="23"/>
                    <a:pt x="31" y="22"/>
                    <a:pt x="32" y="21"/>
                  </a:cubicBezTo>
                  <a:cubicBezTo>
                    <a:pt x="33" y="20"/>
                    <a:pt x="34" y="19"/>
                    <a:pt x="36" y="18"/>
                  </a:cubicBezTo>
                  <a:cubicBezTo>
                    <a:pt x="37" y="19"/>
                    <a:pt x="39" y="20"/>
                    <a:pt x="40" y="21"/>
                  </a:cubicBezTo>
                  <a:cubicBezTo>
                    <a:pt x="41" y="22"/>
                    <a:pt x="42" y="23"/>
                    <a:pt x="43" y="23"/>
                  </a:cubicBezTo>
                  <a:cubicBezTo>
                    <a:pt x="43" y="24"/>
                    <a:pt x="43" y="24"/>
                    <a:pt x="44" y="24"/>
                  </a:cubicBezTo>
                  <a:cubicBezTo>
                    <a:pt x="44" y="24"/>
                    <a:pt x="45" y="24"/>
                    <a:pt x="45" y="23"/>
                  </a:cubicBezTo>
                  <a:cubicBezTo>
                    <a:pt x="50" y="19"/>
                    <a:pt x="53" y="14"/>
                    <a:pt x="56" y="10"/>
                  </a:cubicBezTo>
                  <a:cubicBezTo>
                    <a:pt x="60" y="12"/>
                    <a:pt x="63" y="16"/>
                    <a:pt x="66" y="20"/>
                  </a:cubicBezTo>
                  <a:cubicBezTo>
                    <a:pt x="60" y="30"/>
                    <a:pt x="49" y="36"/>
                    <a:pt x="38" y="3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defTabSz="911478">
                <a:defRPr/>
              </a:pPr>
              <a:endParaRPr sz="1000" b="1" kern="0" dirty="0">
                <a:solidFill>
                  <a:srgbClr val="1D1D1A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F30DD94-A4BF-4006-BFD1-D9A66DA94C1B}"/>
              </a:ext>
            </a:extLst>
          </p:cNvPr>
          <p:cNvCxnSpPr>
            <a:cxnSpLocks/>
          </p:cNvCxnSpPr>
          <p:nvPr/>
        </p:nvCxnSpPr>
        <p:spPr>
          <a:xfrm>
            <a:off x="936902" y="1890182"/>
            <a:ext cx="1010738" cy="3800"/>
          </a:xfrm>
          <a:prstGeom prst="straightConnector1">
            <a:avLst/>
          </a:prstGeom>
          <a:noFill/>
          <a:ln w="19050" cap="flat" cmpd="sng" algn="ctr">
            <a:solidFill>
              <a:srgbClr val="666666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424E8A3F-6EB9-44E3-94CB-DD4926523373}"/>
              </a:ext>
            </a:extLst>
          </p:cNvPr>
          <p:cNvSpPr/>
          <p:nvPr/>
        </p:nvSpPr>
        <p:spPr>
          <a:xfrm>
            <a:off x="1721837" y="3252453"/>
            <a:ext cx="5349705" cy="1709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A2A-T intent translation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0D8E83-55BC-4F90-8FBF-97AE244EDC6D}"/>
              </a:ext>
            </a:extLst>
          </p:cNvPr>
          <p:cNvSpPr/>
          <p:nvPr/>
        </p:nvSpPr>
        <p:spPr>
          <a:xfrm>
            <a:off x="2186153" y="1725560"/>
            <a:ext cx="2216210" cy="358124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Translate energy-saving intentions</a:t>
            </a: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(Region, energy-saving target, safeguard target)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ABD83D-9CD4-44AD-AA9F-AEC108F1E1A1}"/>
              </a:ext>
            </a:extLst>
          </p:cNvPr>
          <p:cNvSpPr/>
          <p:nvPr/>
        </p:nvSpPr>
        <p:spPr>
          <a:xfrm>
            <a:off x="4628932" y="1745093"/>
            <a:ext cx="2269725" cy="338591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 defTabSz="914034"/>
            <a:r>
              <a:rPr lang="en-US" altLang="zh-CN" sz="7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‌Integration of electricity price synergy and energy-saving intentions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7DA383-FF0F-411D-ABC3-A13ADC7886D0}"/>
              </a:ext>
            </a:extLst>
          </p:cNvPr>
          <p:cNvSpPr/>
          <p:nvPr/>
        </p:nvSpPr>
        <p:spPr>
          <a:xfrm>
            <a:off x="2186153" y="1418765"/>
            <a:ext cx="2223632" cy="243274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Obtain and parse dynamic electricity pricing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079E83-B484-4946-A533-B56DEEAED821}"/>
              </a:ext>
            </a:extLst>
          </p:cNvPr>
          <p:cNvSpPr/>
          <p:nvPr/>
        </p:nvSpPr>
        <p:spPr>
          <a:xfrm>
            <a:off x="2176539" y="2240827"/>
            <a:ext cx="4712504" cy="309925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Converting intents of </a:t>
            </a:r>
            <a:r>
              <a:rPr lang="en-US" altLang="zh-CN" sz="7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Electricity price synergy and energy conservation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into A2A-T interface information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19481D0-1E3E-46D0-8FBF-CE86073899EA}"/>
              </a:ext>
            </a:extLst>
          </p:cNvPr>
          <p:cNvCxnSpPr>
            <a:cxnSpLocks/>
          </p:cNvCxnSpPr>
          <p:nvPr/>
        </p:nvCxnSpPr>
        <p:spPr>
          <a:xfrm>
            <a:off x="5806464" y="2111078"/>
            <a:ext cx="0" cy="131702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07DB67A-65E6-4095-AE1F-CA08325A5061}"/>
              </a:ext>
            </a:extLst>
          </p:cNvPr>
          <p:cNvCxnSpPr>
            <a:cxnSpLocks/>
          </p:cNvCxnSpPr>
          <p:nvPr/>
        </p:nvCxnSpPr>
        <p:spPr>
          <a:xfrm>
            <a:off x="4402363" y="1855627"/>
            <a:ext cx="198406" cy="3969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8A8147-863E-435F-B785-536E4459C43E}"/>
              </a:ext>
            </a:extLst>
          </p:cNvPr>
          <p:cNvSpPr txBox="1"/>
          <p:nvPr/>
        </p:nvSpPr>
        <p:spPr>
          <a:xfrm>
            <a:off x="904778" y="1253009"/>
            <a:ext cx="527836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kumimoji="1" lang="en-US" altLang="zh-CN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Energy saving and experience assurance intents</a:t>
            </a:r>
            <a:endParaRPr kumimoji="1" lang="zh-CN" altLang="en-US" sz="8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DE41E31-070D-4359-ADAE-A6F6714D8FC3}"/>
              </a:ext>
            </a:extLst>
          </p:cNvPr>
          <p:cNvCxnSpPr>
            <a:cxnSpLocks/>
          </p:cNvCxnSpPr>
          <p:nvPr/>
        </p:nvCxnSpPr>
        <p:spPr>
          <a:xfrm flipV="1">
            <a:off x="4430143" y="2585282"/>
            <a:ext cx="0" cy="473949"/>
          </a:xfrm>
          <a:prstGeom prst="line">
            <a:avLst/>
          </a:prstGeom>
          <a:noFill/>
          <a:ln w="19050" cap="flat" cmpd="sng" algn="ctr">
            <a:solidFill>
              <a:srgbClr val="92D050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ED54320A-7B21-4A87-9F5F-7FD5D19F0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891292"/>
              </p:ext>
            </p:extLst>
          </p:nvPr>
        </p:nvGraphicFramePr>
        <p:xfrm>
          <a:off x="7959000" y="1904622"/>
          <a:ext cx="3428685" cy="1022579"/>
        </p:xfrm>
        <a:graphic>
          <a:graphicData uri="http://schemas.openxmlformats.org/drawingml/2006/table">
            <a:tbl>
              <a:tblPr/>
              <a:tblGrid>
                <a:gridCol w="790589">
                  <a:extLst>
                    <a:ext uri="{9D8B030D-6E8A-4147-A177-3AD203B41FA5}">
                      <a16:colId xmlns:a16="http://schemas.microsoft.com/office/drawing/2014/main" val="474336236"/>
                    </a:ext>
                  </a:extLst>
                </a:gridCol>
                <a:gridCol w="1445173">
                  <a:extLst>
                    <a:ext uri="{9D8B030D-6E8A-4147-A177-3AD203B41FA5}">
                      <a16:colId xmlns:a16="http://schemas.microsoft.com/office/drawing/2014/main" val="1192779487"/>
                    </a:ext>
                  </a:extLst>
                </a:gridCol>
                <a:gridCol w="1192923">
                  <a:extLst>
                    <a:ext uri="{9D8B030D-6E8A-4147-A177-3AD203B41FA5}">
                      <a16:colId xmlns:a16="http://schemas.microsoft.com/office/drawing/2014/main" val="2596690177"/>
                    </a:ext>
                  </a:extLst>
                </a:gridCol>
              </a:tblGrid>
              <a:tr h="168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 period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>
                        <a:lumMod val="20000"/>
                        <a:lumOff val="80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84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1" lang="en-US" altLang="zh-CN" sz="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Energy saving and experience assurance intents</a:t>
                      </a:r>
                      <a:endParaRPr lang="zh-CN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443360"/>
                  </a:ext>
                </a:extLst>
              </a:tr>
              <a:tr h="1322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23~5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Maximized energy saving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 rate guarantee target.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451981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6~9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Proactive energy saving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10Mbps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984127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10~15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84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Experience first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No degrade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006751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16~17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Proactive energy saving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10Mbps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279133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18~22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84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Experience first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 degrade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833596"/>
                  </a:ext>
                </a:extLst>
              </a:tr>
            </a:tbl>
          </a:graphicData>
        </a:graphic>
      </p:graphicFrame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CC3CE43-AA70-46B9-804B-2317A63E3B9E}"/>
              </a:ext>
            </a:extLst>
          </p:cNvPr>
          <p:cNvCxnSpPr>
            <a:cxnSpLocks/>
          </p:cNvCxnSpPr>
          <p:nvPr/>
        </p:nvCxnSpPr>
        <p:spPr>
          <a:xfrm flipV="1">
            <a:off x="4497687" y="2958073"/>
            <a:ext cx="3412663" cy="17103"/>
          </a:xfrm>
          <a:prstGeom prst="straightConnector1">
            <a:avLst/>
          </a:prstGeom>
          <a:noFill/>
          <a:ln w="6350" cap="flat" cmpd="sng" algn="ctr">
            <a:solidFill>
              <a:srgbClr val="00B050"/>
            </a:solidFill>
            <a:prstDash val="dash"/>
            <a:miter lim="800000"/>
            <a:tailEnd type="triangle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777E40F9-2029-4398-B4F4-B0720EE210D9}"/>
              </a:ext>
            </a:extLst>
          </p:cNvPr>
          <p:cNvSpPr/>
          <p:nvPr/>
        </p:nvSpPr>
        <p:spPr>
          <a:xfrm>
            <a:off x="1494348" y="6128629"/>
            <a:ext cx="6013649" cy="409733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/>
          <a:lstStyle/>
          <a:p>
            <a:pPr algn="ctr" defTabSz="913130"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/>
                <a:ea typeface="微软雅黑"/>
              </a:rPr>
              <a:t>RAN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A826CFB-171B-4140-A926-EABD24230579}"/>
              </a:ext>
            </a:extLst>
          </p:cNvPr>
          <p:cNvSpPr txBox="1"/>
          <p:nvPr/>
        </p:nvSpPr>
        <p:spPr>
          <a:xfrm>
            <a:off x="7396262" y="2804721"/>
            <a:ext cx="7423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defRPr/>
            </a:pPr>
            <a:r>
              <a:rPr kumimoji="1" lang="en-US" altLang="zh-CN" sz="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Intent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FF514D-A600-419D-A38A-4B1ED8C892B4}"/>
              </a:ext>
            </a:extLst>
          </p:cNvPr>
          <p:cNvSpPr txBox="1"/>
          <p:nvPr/>
        </p:nvSpPr>
        <p:spPr>
          <a:xfrm>
            <a:off x="3711411" y="6275731"/>
            <a:ext cx="1756480" cy="215444"/>
          </a:xfrm>
          <a:prstGeom prst="rect">
            <a:avLst/>
          </a:prstGeom>
          <a:noFill/>
          <a:ln>
            <a:solidFill>
              <a:srgbClr val="666666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Data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：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CM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、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PM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、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MR/CHR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C564DB33-BAAC-43F9-98D5-A11D3EE23E82}"/>
              </a:ext>
            </a:extLst>
          </p:cNvPr>
          <p:cNvCxnSpPr>
            <a:cxnSpLocks/>
            <a:stCxn id="17" idx="3"/>
            <a:endCxn id="16" idx="0"/>
          </p:cNvCxnSpPr>
          <p:nvPr/>
        </p:nvCxnSpPr>
        <p:spPr>
          <a:xfrm>
            <a:off x="4409785" y="1540402"/>
            <a:ext cx="1354010" cy="204691"/>
          </a:xfrm>
          <a:prstGeom prst="bentConnector2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A5B8DBD3-28F1-4A7F-A65C-776B93650F91}"/>
              </a:ext>
            </a:extLst>
          </p:cNvPr>
          <p:cNvSpPr/>
          <p:nvPr/>
        </p:nvSpPr>
        <p:spPr>
          <a:xfrm>
            <a:off x="1721837" y="3520718"/>
            <a:ext cx="2150408" cy="999976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Monthly charging Band prediction</a:t>
            </a: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8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800" b="1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E058EDC-CE52-4BAB-A138-C3BFCE07D2BD}"/>
              </a:ext>
            </a:extLst>
          </p:cNvPr>
          <p:cNvSpPr/>
          <p:nvPr/>
        </p:nvSpPr>
        <p:spPr>
          <a:xfrm>
            <a:off x="4037785" y="3518568"/>
            <a:ext cx="1721587" cy="981538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Site classification</a:t>
            </a: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9ED5ACB-CFF7-4BB6-847E-B58E19B3E439}"/>
              </a:ext>
            </a:extLst>
          </p:cNvPr>
          <p:cNvSpPr/>
          <p:nvPr/>
        </p:nvSpPr>
        <p:spPr>
          <a:xfrm>
            <a:off x="4138912" y="3778417"/>
            <a:ext cx="1496075" cy="225531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Marking downgrade sites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54F0379-1D0C-4724-9B5B-79F82F3D8BA3}"/>
              </a:ext>
            </a:extLst>
          </p:cNvPr>
          <p:cNvSpPr/>
          <p:nvPr/>
        </p:nvSpPr>
        <p:spPr>
          <a:xfrm>
            <a:off x="4138243" y="4011740"/>
            <a:ext cx="1496075" cy="225531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Marking Upgrade sites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42805C6-DFC2-4502-A973-F489BCFB39F5}"/>
              </a:ext>
            </a:extLst>
          </p:cNvPr>
          <p:cNvSpPr/>
          <p:nvPr/>
        </p:nvSpPr>
        <p:spPr>
          <a:xfrm>
            <a:off x="4138243" y="4238695"/>
            <a:ext cx="1496075" cy="219760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Marking Grade stable-maintained sites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D6119ED-813E-4F75-986B-0E8023E55748}"/>
              </a:ext>
            </a:extLst>
          </p:cNvPr>
          <p:cNvSpPr/>
          <p:nvPr/>
        </p:nvSpPr>
        <p:spPr>
          <a:xfrm>
            <a:off x="1721837" y="4662829"/>
            <a:ext cx="5349704" cy="1229182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Monthly collaborative optimization of electricity cost reduction at the cluster level</a:t>
            </a: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5C44EB64-6F74-42A7-910E-B7CD29E731B4}"/>
              </a:ext>
            </a:extLst>
          </p:cNvPr>
          <p:cNvCxnSpPr>
            <a:cxnSpLocks/>
          </p:cNvCxnSpPr>
          <p:nvPr/>
        </p:nvCxnSpPr>
        <p:spPr>
          <a:xfrm>
            <a:off x="3831530" y="4009336"/>
            <a:ext cx="206255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986B51A-B115-4912-A911-A2AB14860C8B}"/>
              </a:ext>
            </a:extLst>
          </p:cNvPr>
          <p:cNvCxnSpPr>
            <a:cxnSpLocks/>
          </p:cNvCxnSpPr>
          <p:nvPr/>
        </p:nvCxnSpPr>
        <p:spPr>
          <a:xfrm flipV="1">
            <a:off x="5755359" y="4009336"/>
            <a:ext cx="169553" cy="1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3A4C3A73-B645-4957-A9DA-E4A566225ED7}"/>
              </a:ext>
            </a:extLst>
          </p:cNvPr>
          <p:cNvSpPr/>
          <p:nvPr/>
        </p:nvSpPr>
        <p:spPr>
          <a:xfrm>
            <a:off x="5949687" y="3518430"/>
            <a:ext cx="1121855" cy="981538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Cluster planning</a:t>
            </a: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8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Electricity price synergy and energy conservation</a:t>
            </a: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F43F1426-3914-4D5E-B7C0-4D47FBC647E0}"/>
              </a:ext>
            </a:extLst>
          </p:cNvPr>
          <p:cNvCxnSpPr>
            <a:cxnSpLocks/>
          </p:cNvCxnSpPr>
          <p:nvPr/>
        </p:nvCxnSpPr>
        <p:spPr>
          <a:xfrm>
            <a:off x="6557458" y="4499968"/>
            <a:ext cx="0" cy="188888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F6BE7395-43BA-40BB-93C9-E5A6332E1AE3}"/>
              </a:ext>
            </a:extLst>
          </p:cNvPr>
          <p:cNvSpPr/>
          <p:nvPr/>
        </p:nvSpPr>
        <p:spPr>
          <a:xfrm>
            <a:off x="1975625" y="3763650"/>
            <a:ext cx="1724270" cy="317690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Monthly power consumption prediction for per site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658F74A-E8BC-403F-9F1E-EF60BBBD57AD}"/>
              </a:ext>
            </a:extLst>
          </p:cNvPr>
          <p:cNvSpPr/>
          <p:nvPr/>
        </p:nvSpPr>
        <p:spPr>
          <a:xfrm>
            <a:off x="1975623" y="4126829"/>
            <a:ext cx="1724271" cy="299329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Monthly charging Band prediction for per site</a:t>
            </a:r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8238F778-D947-467C-BDEA-8AB8566A1EFD}"/>
              </a:ext>
            </a:extLst>
          </p:cNvPr>
          <p:cNvCxnSpPr>
            <a:cxnSpLocks/>
          </p:cNvCxnSpPr>
          <p:nvPr/>
        </p:nvCxnSpPr>
        <p:spPr>
          <a:xfrm>
            <a:off x="4861464" y="4473941"/>
            <a:ext cx="0" cy="188888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AC669546-D3E7-4AA1-9D7E-BA58E5CF38E8}"/>
              </a:ext>
            </a:extLst>
          </p:cNvPr>
          <p:cNvSpPr/>
          <p:nvPr/>
        </p:nvSpPr>
        <p:spPr>
          <a:xfrm>
            <a:off x="1806577" y="5239638"/>
            <a:ext cx="2845147" cy="262808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Traffic migration-out for 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Downgrade / </a:t>
            </a:r>
            <a:r>
              <a:rPr lang="en-US" altLang="zh-CN" sz="7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Upgrage</a:t>
            </a:r>
            <a:r>
              <a:rPr lang="en-US" altLang="zh-CN" sz="7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sites by decreasing Power or increasing Tilt or HO out users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F5055E4-1537-4232-AB20-97A6541724A0}"/>
              </a:ext>
            </a:extLst>
          </p:cNvPr>
          <p:cNvSpPr/>
          <p:nvPr/>
        </p:nvSpPr>
        <p:spPr>
          <a:xfrm>
            <a:off x="4872682" y="5242927"/>
            <a:ext cx="1266867" cy="576847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Coverage</a:t>
            </a: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&amp;experience &amp;energy consumption simulation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46B58DCD-0176-4953-9B54-7F314CBCD67C}"/>
              </a:ext>
            </a:extLst>
          </p:cNvPr>
          <p:cNvSpPr/>
          <p:nvPr/>
        </p:nvSpPr>
        <p:spPr>
          <a:xfrm>
            <a:off x="1806577" y="4930080"/>
            <a:ext cx="5154366" cy="217983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Cluster-level electricity cost minimization optimization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3E464CA2-0E13-49A4-8728-F9C1DA7B155C}"/>
              </a:ext>
            </a:extLst>
          </p:cNvPr>
          <p:cNvSpPr/>
          <p:nvPr/>
        </p:nvSpPr>
        <p:spPr>
          <a:xfrm>
            <a:off x="1822424" y="5578051"/>
            <a:ext cx="2850686" cy="251882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Traffic migration-in for 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Grade stable-maintained sites by decreasing Power or increasing Tilt or HO in users</a:t>
            </a:r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61E24A0-433B-4231-AC50-7A72CBCF5905}"/>
              </a:ext>
            </a:extLst>
          </p:cNvPr>
          <p:cNvCxnSpPr>
            <a:cxnSpLocks/>
          </p:cNvCxnSpPr>
          <p:nvPr/>
        </p:nvCxnSpPr>
        <p:spPr>
          <a:xfrm>
            <a:off x="4624064" y="5375228"/>
            <a:ext cx="241972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18013534-4AAB-4524-8C74-EA1C65C7249A}"/>
              </a:ext>
            </a:extLst>
          </p:cNvPr>
          <p:cNvCxnSpPr>
            <a:cxnSpLocks/>
          </p:cNvCxnSpPr>
          <p:nvPr/>
        </p:nvCxnSpPr>
        <p:spPr>
          <a:xfrm>
            <a:off x="4615100" y="5708989"/>
            <a:ext cx="241972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7" name="矩形 146">
            <a:extLst>
              <a:ext uri="{FF2B5EF4-FFF2-40B4-BE49-F238E27FC236}">
                <a16:creationId xmlns:a16="http://schemas.microsoft.com/office/drawing/2014/main" id="{EFFFBA5D-1824-4A2A-87E5-E3B7C2E27F52}"/>
              </a:ext>
            </a:extLst>
          </p:cNvPr>
          <p:cNvSpPr/>
          <p:nvPr/>
        </p:nvSpPr>
        <p:spPr>
          <a:xfrm>
            <a:off x="6300952" y="5249166"/>
            <a:ext cx="659991" cy="576849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electricity cost prediction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CECA09CA-A398-4554-A549-E42AC13A852C}"/>
              </a:ext>
            </a:extLst>
          </p:cNvPr>
          <p:cNvCxnSpPr>
            <a:cxnSpLocks/>
          </p:cNvCxnSpPr>
          <p:nvPr/>
        </p:nvCxnSpPr>
        <p:spPr>
          <a:xfrm>
            <a:off x="6071950" y="5513395"/>
            <a:ext cx="241972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2774D808-806F-409B-9793-37C3289BA5D0}"/>
              </a:ext>
            </a:extLst>
          </p:cNvPr>
          <p:cNvGrpSpPr/>
          <p:nvPr/>
        </p:nvGrpSpPr>
        <p:grpSpPr>
          <a:xfrm>
            <a:off x="4606582" y="5078305"/>
            <a:ext cx="326862" cy="203136"/>
            <a:chOff x="2792910" y="4632822"/>
            <a:chExt cx="695924" cy="582875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C09C82C7-2629-4CDE-8E2A-CD26894E9FC9}"/>
                </a:ext>
              </a:extLst>
            </p:cNvPr>
            <p:cNvGrpSpPr/>
            <p:nvPr/>
          </p:nvGrpSpPr>
          <p:grpSpPr>
            <a:xfrm>
              <a:off x="2792910" y="4667796"/>
              <a:ext cx="554278" cy="547901"/>
              <a:chOff x="9599284" y="3872302"/>
              <a:chExt cx="627070" cy="682563"/>
            </a:xfrm>
            <a:solidFill>
              <a:srgbClr val="FFC000"/>
            </a:solidFill>
          </p:grpSpPr>
          <p:sp>
            <p:nvSpPr>
              <p:cNvPr id="156" name="空心弧 155">
                <a:extLst>
                  <a:ext uri="{FF2B5EF4-FFF2-40B4-BE49-F238E27FC236}">
                    <a16:creationId xmlns:a16="http://schemas.microsoft.com/office/drawing/2014/main" id="{6A18F339-8E17-4D3F-881F-17F51AE01E2E}"/>
                  </a:ext>
                </a:extLst>
              </p:cNvPr>
              <p:cNvSpPr/>
              <p:nvPr/>
            </p:nvSpPr>
            <p:spPr>
              <a:xfrm rot="16200000">
                <a:off x="9604958" y="3866628"/>
                <a:ext cx="615722" cy="627070"/>
              </a:xfrm>
              <a:prstGeom prst="blockArc">
                <a:avLst>
                  <a:gd name="adj1" fmla="val 11247150"/>
                  <a:gd name="adj2" fmla="val 21459843"/>
                  <a:gd name="adj3" fmla="val 0"/>
                </a:avLst>
              </a:prstGeom>
              <a:gradFill rotWithShape="1">
                <a:gsLst>
                  <a:gs pos="0">
                    <a:srgbClr val="ED6D00">
                      <a:lumMod val="110000"/>
                      <a:satMod val="105000"/>
                      <a:tint val="67000"/>
                    </a:srgbClr>
                  </a:gs>
                  <a:gs pos="50000">
                    <a:srgbClr val="ED6D00">
                      <a:lumMod val="105000"/>
                      <a:satMod val="103000"/>
                      <a:tint val="73000"/>
                    </a:srgbClr>
                  </a:gs>
                  <a:gs pos="100000">
                    <a:srgbClr val="ED6D00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1905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defTabSz="180340">
                  <a:defRPr/>
                </a:pPr>
                <a:endParaRPr lang="zh-CN" altLang="en-US" sz="135" kern="0" dirty="0">
                  <a:solidFill>
                    <a:srgbClr val="00B0F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7" name="燕尾形 145">
                <a:extLst>
                  <a:ext uri="{FF2B5EF4-FFF2-40B4-BE49-F238E27FC236}">
                    <a16:creationId xmlns:a16="http://schemas.microsoft.com/office/drawing/2014/main" id="{4C3863C1-BDCE-4AF4-A1C2-88778DAFB697}"/>
                  </a:ext>
                </a:extLst>
              </p:cNvPr>
              <p:cNvSpPr/>
              <p:nvPr/>
            </p:nvSpPr>
            <p:spPr>
              <a:xfrm rot="1247429">
                <a:off x="9816765" y="4421184"/>
                <a:ext cx="108271" cy="133681"/>
              </a:xfrm>
              <a:prstGeom prst="chevron">
                <a:avLst>
                  <a:gd name="adj" fmla="val 100000"/>
                </a:avLst>
              </a:prstGeom>
              <a:gradFill rotWithShape="1">
                <a:gsLst>
                  <a:gs pos="0">
                    <a:srgbClr val="ED6D00">
                      <a:lumMod val="110000"/>
                      <a:satMod val="105000"/>
                      <a:tint val="67000"/>
                    </a:srgbClr>
                  </a:gs>
                  <a:gs pos="50000">
                    <a:srgbClr val="ED6D00">
                      <a:lumMod val="105000"/>
                      <a:satMod val="103000"/>
                      <a:tint val="73000"/>
                    </a:srgbClr>
                  </a:gs>
                  <a:gs pos="100000">
                    <a:srgbClr val="ED6D00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1905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defTabSz="180340">
                  <a:defRPr/>
                </a:pPr>
                <a:endParaRPr lang="zh-CN" altLang="en-US" sz="135" kern="0">
                  <a:solidFill>
                    <a:srgbClr val="00B0F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53" name="组合 152">
              <a:extLst>
                <a:ext uri="{FF2B5EF4-FFF2-40B4-BE49-F238E27FC236}">
                  <a16:creationId xmlns:a16="http://schemas.microsoft.com/office/drawing/2014/main" id="{AFC8DC17-80EE-4496-9089-083803CC57F4}"/>
                </a:ext>
              </a:extLst>
            </p:cNvPr>
            <p:cNvGrpSpPr/>
            <p:nvPr/>
          </p:nvGrpSpPr>
          <p:grpSpPr>
            <a:xfrm rot="10800000">
              <a:off x="2934556" y="4632822"/>
              <a:ext cx="554278" cy="547901"/>
              <a:chOff x="9599284" y="3872302"/>
              <a:chExt cx="627070" cy="682563"/>
            </a:xfrm>
            <a:solidFill>
              <a:srgbClr val="FFC000"/>
            </a:solidFill>
          </p:grpSpPr>
          <p:sp>
            <p:nvSpPr>
              <p:cNvPr id="154" name="空心弧 153">
                <a:extLst>
                  <a:ext uri="{FF2B5EF4-FFF2-40B4-BE49-F238E27FC236}">
                    <a16:creationId xmlns:a16="http://schemas.microsoft.com/office/drawing/2014/main" id="{F0EEDE8F-176A-4350-A9D7-FA093D039C81}"/>
                  </a:ext>
                </a:extLst>
              </p:cNvPr>
              <p:cNvSpPr/>
              <p:nvPr/>
            </p:nvSpPr>
            <p:spPr>
              <a:xfrm rot="16200000">
                <a:off x="9604958" y="3866628"/>
                <a:ext cx="615722" cy="627070"/>
              </a:xfrm>
              <a:prstGeom prst="blockArc">
                <a:avLst>
                  <a:gd name="adj1" fmla="val 11247150"/>
                  <a:gd name="adj2" fmla="val 21459843"/>
                  <a:gd name="adj3" fmla="val 0"/>
                </a:avLst>
              </a:prstGeom>
              <a:gradFill rotWithShape="1">
                <a:gsLst>
                  <a:gs pos="0">
                    <a:srgbClr val="ED6D00">
                      <a:lumMod val="110000"/>
                      <a:satMod val="105000"/>
                      <a:tint val="67000"/>
                    </a:srgbClr>
                  </a:gs>
                  <a:gs pos="50000">
                    <a:srgbClr val="ED6D00">
                      <a:lumMod val="105000"/>
                      <a:satMod val="103000"/>
                      <a:tint val="73000"/>
                    </a:srgbClr>
                  </a:gs>
                  <a:gs pos="100000">
                    <a:srgbClr val="ED6D00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1905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defTabSz="180340">
                  <a:defRPr/>
                </a:pPr>
                <a:endParaRPr lang="zh-CN" altLang="en-US" sz="135" kern="0" dirty="0">
                  <a:solidFill>
                    <a:srgbClr val="00B0F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5" name="燕尾形 143">
                <a:extLst>
                  <a:ext uri="{FF2B5EF4-FFF2-40B4-BE49-F238E27FC236}">
                    <a16:creationId xmlns:a16="http://schemas.microsoft.com/office/drawing/2014/main" id="{E33064F5-7B06-4EEF-8ADB-B8E352BD53EC}"/>
                  </a:ext>
                </a:extLst>
              </p:cNvPr>
              <p:cNvSpPr/>
              <p:nvPr/>
            </p:nvSpPr>
            <p:spPr>
              <a:xfrm rot="1247429">
                <a:off x="9816765" y="4421184"/>
                <a:ext cx="108271" cy="133681"/>
              </a:xfrm>
              <a:prstGeom prst="chevron">
                <a:avLst>
                  <a:gd name="adj" fmla="val 100000"/>
                </a:avLst>
              </a:prstGeom>
              <a:gradFill rotWithShape="1">
                <a:gsLst>
                  <a:gs pos="0">
                    <a:srgbClr val="ED6D00">
                      <a:lumMod val="110000"/>
                      <a:satMod val="105000"/>
                      <a:tint val="67000"/>
                    </a:srgbClr>
                  </a:gs>
                  <a:gs pos="50000">
                    <a:srgbClr val="ED6D00">
                      <a:lumMod val="105000"/>
                      <a:satMod val="103000"/>
                      <a:tint val="73000"/>
                    </a:srgbClr>
                  </a:gs>
                  <a:gs pos="100000">
                    <a:srgbClr val="ED6D00">
                      <a:lumMod val="105000"/>
                      <a:satMod val="109000"/>
                      <a:tint val="81000"/>
                    </a:srgbClr>
                  </a:gs>
                </a:gsLst>
                <a:lin ang="5400000" scaled="0"/>
              </a:gradFill>
              <a:ln w="1905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defTabSz="180340">
                  <a:defRPr/>
                </a:pPr>
                <a:endParaRPr lang="zh-CN" altLang="en-US" sz="135" kern="0">
                  <a:solidFill>
                    <a:srgbClr val="00B0F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FBC93988-B9AA-45A3-BF89-AFDF1B0EDEF6}"/>
              </a:ext>
            </a:extLst>
          </p:cNvPr>
          <p:cNvCxnSpPr>
            <a:cxnSpLocks/>
          </p:cNvCxnSpPr>
          <p:nvPr/>
        </p:nvCxnSpPr>
        <p:spPr>
          <a:xfrm flipV="1">
            <a:off x="4037785" y="5892011"/>
            <a:ext cx="0" cy="320738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AD9E3E15-1C4A-420C-8B5E-F1B3CA878A2D}"/>
              </a:ext>
            </a:extLst>
          </p:cNvPr>
          <p:cNvCxnSpPr>
            <a:cxnSpLocks/>
          </p:cNvCxnSpPr>
          <p:nvPr/>
        </p:nvCxnSpPr>
        <p:spPr>
          <a:xfrm flipV="1">
            <a:off x="6710029" y="5071545"/>
            <a:ext cx="0" cy="216656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graphicFrame>
        <p:nvGraphicFramePr>
          <p:cNvPr id="175" name="表格 174">
            <a:extLst>
              <a:ext uri="{FF2B5EF4-FFF2-40B4-BE49-F238E27FC236}">
                <a16:creationId xmlns:a16="http://schemas.microsoft.com/office/drawing/2014/main" id="{8F9B9EDB-89D2-4EE5-98D6-2DA4E59A5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211410"/>
              </p:ext>
            </p:extLst>
          </p:nvPr>
        </p:nvGraphicFramePr>
        <p:xfrm>
          <a:off x="7958999" y="3158069"/>
          <a:ext cx="3428685" cy="903376"/>
        </p:xfrm>
        <a:graphic>
          <a:graphicData uri="http://schemas.openxmlformats.org/drawingml/2006/table">
            <a:tbl>
              <a:tblPr/>
              <a:tblGrid>
                <a:gridCol w="790589">
                  <a:extLst>
                    <a:ext uri="{9D8B030D-6E8A-4147-A177-3AD203B41FA5}">
                      <a16:colId xmlns:a16="http://schemas.microsoft.com/office/drawing/2014/main" val="4223964831"/>
                    </a:ext>
                  </a:extLst>
                </a:gridCol>
                <a:gridCol w="1445173">
                  <a:extLst>
                    <a:ext uri="{9D8B030D-6E8A-4147-A177-3AD203B41FA5}">
                      <a16:colId xmlns:a16="http://schemas.microsoft.com/office/drawing/2014/main" val="523034813"/>
                    </a:ext>
                  </a:extLst>
                </a:gridCol>
                <a:gridCol w="1192923">
                  <a:extLst>
                    <a:ext uri="{9D8B030D-6E8A-4147-A177-3AD203B41FA5}">
                      <a16:colId xmlns:a16="http://schemas.microsoft.com/office/drawing/2014/main" val="830456008"/>
                    </a:ext>
                  </a:extLst>
                </a:gridCol>
              </a:tblGrid>
              <a:tr h="168255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Band no.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Total GHS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933720"/>
                  </a:ext>
                </a:extLst>
              </a:tr>
              <a:tr h="132257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0.00-0.99KW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8247.66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709710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1.00-1.99KW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10628.25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904682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2.00-2.99KW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11956.25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953661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3.00-3.99KW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15409.75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497536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4.00-4.99KW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ctr" defTabSz="914400" rtl="0" eaLnBrk="1" fontAlgn="ctr" latinLnBrk="0" hangingPunct="1"/>
                      <a:r>
                        <a:rPr lang="en-US" altLang="zh-C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17784.09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783901"/>
                  </a:ext>
                </a:extLst>
              </a:tr>
            </a:tbl>
          </a:graphicData>
        </a:graphic>
      </p:graphicFrame>
      <p:sp>
        <p:nvSpPr>
          <p:cNvPr id="176" name="加号 175">
            <a:extLst>
              <a:ext uri="{FF2B5EF4-FFF2-40B4-BE49-F238E27FC236}">
                <a16:creationId xmlns:a16="http://schemas.microsoft.com/office/drawing/2014/main" id="{91252423-A5D6-46CC-B119-4ACF020D55C6}"/>
              </a:ext>
            </a:extLst>
          </p:cNvPr>
          <p:cNvSpPr/>
          <p:nvPr/>
        </p:nvSpPr>
        <p:spPr>
          <a:xfrm>
            <a:off x="9542237" y="2927201"/>
            <a:ext cx="262207" cy="24913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265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F9C7E06-0300-43E5-8FAD-E1D28124D01E}"/>
              </a:ext>
            </a:extLst>
          </p:cNvPr>
          <p:cNvSpPr txBox="1"/>
          <p:nvPr/>
        </p:nvSpPr>
        <p:spPr>
          <a:xfrm>
            <a:off x="183735" y="123338"/>
            <a:ext cx="10568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OPEN AN-based Lithium Battery Charge and Discharge Planning Based on Electricity Prices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175A48-BBCD-4AF1-9D28-FCD2BE96A4D2}"/>
              </a:ext>
            </a:extLst>
          </p:cNvPr>
          <p:cNvSpPr/>
          <p:nvPr/>
        </p:nvSpPr>
        <p:spPr>
          <a:xfrm>
            <a:off x="1474539" y="3059231"/>
            <a:ext cx="6013649" cy="1514581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/>
          <a:lstStyle/>
          <a:p>
            <a:pPr algn="ctr" defTabSz="913130"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/>
                <a:ea typeface="微软雅黑"/>
              </a:rPr>
              <a:t>  MAE</a:t>
            </a:r>
          </a:p>
          <a:p>
            <a:pPr algn="ctr" defTabSz="913130">
              <a:defRPr/>
            </a:pPr>
            <a:endParaRPr lang="en-US" altLang="zh-CN" sz="1000" b="1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algn="ctr" defTabSz="913130"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微软雅黑"/>
                <a:ea typeface="微软雅黑"/>
              </a:rPr>
              <a:t> </a:t>
            </a:r>
          </a:p>
          <a:p>
            <a:pPr algn="ctr" defTabSz="913130">
              <a:defRPr/>
            </a:pPr>
            <a:endParaRPr lang="en-US" altLang="zh-CN" sz="1000" b="1" kern="0" dirty="0">
              <a:solidFill>
                <a:srgbClr val="1D1D1A"/>
              </a:solidFill>
              <a:latin typeface="微软雅黑"/>
              <a:ea typeface="微软雅黑"/>
            </a:endParaRPr>
          </a:p>
          <a:p>
            <a:pPr algn="ctr" defTabSz="913130">
              <a:defRPr/>
            </a:pPr>
            <a:endParaRPr lang="en-US" altLang="zh-CN" sz="1000" b="1" kern="0" dirty="0">
              <a:solidFill>
                <a:srgbClr val="1D1D1A"/>
              </a:solidFill>
              <a:latin typeface="微软雅黑"/>
              <a:ea typeface="微软雅黑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A87E2C-A6A8-4E21-A95F-9AC4C8665D78}"/>
              </a:ext>
            </a:extLst>
          </p:cNvPr>
          <p:cNvSpPr txBox="1"/>
          <p:nvPr/>
        </p:nvSpPr>
        <p:spPr>
          <a:xfrm>
            <a:off x="3764647" y="2871551"/>
            <a:ext cx="7167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A2A-T</a:t>
            </a:r>
            <a:endParaRPr lang="zh-CN" altLang="en-US" sz="3200" dirty="0">
              <a:solidFill>
                <a:srgbClr val="1D1D1A"/>
              </a:solidFill>
              <a:latin typeface="Calibri" panose="020F0502020204030204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EDF1DE-05AF-4D38-ACBA-F22E8D6B8FC0}"/>
              </a:ext>
            </a:extLst>
          </p:cNvPr>
          <p:cNvSpPr/>
          <p:nvPr/>
        </p:nvSpPr>
        <p:spPr>
          <a:xfrm>
            <a:off x="1478322" y="802741"/>
            <a:ext cx="5989278" cy="210199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/>
          <a:lstStyle/>
          <a:p>
            <a:pPr algn="ctr" defTabSz="913130"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/>
                <a:ea typeface="微软雅黑"/>
              </a:rPr>
              <a:t>OSS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7875650-1031-4BD7-BCE8-1CA0B72A2876}"/>
              </a:ext>
            </a:extLst>
          </p:cNvPr>
          <p:cNvGrpSpPr/>
          <p:nvPr/>
        </p:nvGrpSpPr>
        <p:grpSpPr>
          <a:xfrm>
            <a:off x="1721838" y="970174"/>
            <a:ext cx="5558670" cy="1852439"/>
            <a:chOff x="835564" y="1323367"/>
            <a:chExt cx="1960166" cy="1284287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9A0CD0F-492C-4C70-A09E-AC61EA781993}"/>
                </a:ext>
              </a:extLst>
            </p:cNvPr>
            <p:cNvSpPr/>
            <p:nvPr/>
          </p:nvSpPr>
          <p:spPr>
            <a:xfrm>
              <a:off x="835564" y="1323367"/>
              <a:ext cx="1960166" cy="1284287"/>
            </a:xfrm>
            <a:prstGeom prst="rect">
              <a:avLst/>
            </a:prstGeom>
            <a:noFill/>
            <a:ln w="12700" cap="flat" cmpd="sng" algn="ctr">
              <a:solidFill>
                <a:srgbClr val="DDDDDD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313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</a:rPr>
                <a:t>OSS </a:t>
              </a: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</a:rPr>
                <a:t>Agents&amp;Apps</a:t>
              </a:r>
              <a:endParaRPr kumimoji="0" lang="zh-CN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22911CB-ABE3-4E41-B6D0-6BD38545419C}"/>
                </a:ext>
              </a:extLst>
            </p:cNvPr>
            <p:cNvSpPr/>
            <p:nvPr/>
          </p:nvSpPr>
          <p:spPr>
            <a:xfrm>
              <a:off x="906794" y="1471613"/>
              <a:ext cx="1815248" cy="1055825"/>
            </a:xfrm>
            <a:prstGeom prst="rect">
              <a:avLst/>
            </a:prstGeom>
            <a:solidFill>
              <a:srgbClr val="D4F1F5"/>
            </a:solidFill>
            <a:ln w="6350" cap="flat" cmpd="sng" algn="ctr">
              <a:solidFill>
                <a:srgbClr val="DDDDDD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0" rIns="91404" bIns="45702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Scenario-based energy saving UC</a:t>
              </a:r>
            </a:p>
          </p:txBody>
        </p:sp>
      </p:grpSp>
      <p:grpSp>
        <p:nvGrpSpPr>
          <p:cNvPr id="10" name="Group 56">
            <a:extLst>
              <a:ext uri="{FF2B5EF4-FFF2-40B4-BE49-F238E27FC236}">
                <a16:creationId xmlns:a16="http://schemas.microsoft.com/office/drawing/2014/main" id="{3BC22F57-E0E6-4000-A4DF-0E7E3757737E}"/>
              </a:ext>
            </a:extLst>
          </p:cNvPr>
          <p:cNvGrpSpPr/>
          <p:nvPr/>
        </p:nvGrpSpPr>
        <p:grpSpPr>
          <a:xfrm>
            <a:off x="460590" y="1442941"/>
            <a:ext cx="436767" cy="496426"/>
            <a:chOff x="3735388" y="3554082"/>
            <a:chExt cx="184150" cy="220684"/>
          </a:xfrm>
          <a:solidFill>
            <a:srgbClr val="011179"/>
          </a:solidFill>
        </p:grpSpPr>
        <p:sp>
          <p:nvSpPr>
            <p:cNvPr id="11" name="Freeform: Shape 57">
              <a:extLst>
                <a:ext uri="{FF2B5EF4-FFF2-40B4-BE49-F238E27FC236}">
                  <a16:creationId xmlns:a16="http://schemas.microsoft.com/office/drawing/2014/main" id="{8C2B1F5A-F25D-49FD-8739-1E66E5550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498" y="3554082"/>
              <a:ext cx="104776" cy="104775"/>
            </a:xfrm>
            <a:custGeom>
              <a:avLst/>
              <a:gdLst/>
              <a:ahLst/>
              <a:cxnLst>
                <a:cxn ang="0">
                  <a:pos x="21" y="41"/>
                </a:cxn>
                <a:cxn ang="0">
                  <a:pos x="41" y="21"/>
                </a:cxn>
                <a:cxn ang="0">
                  <a:pos x="21" y="0"/>
                </a:cxn>
                <a:cxn ang="0">
                  <a:pos x="0" y="21"/>
                </a:cxn>
                <a:cxn ang="0">
                  <a:pos x="21" y="41"/>
                </a:cxn>
                <a:cxn ang="0">
                  <a:pos x="21" y="6"/>
                </a:cxn>
                <a:cxn ang="0">
                  <a:pos x="36" y="21"/>
                </a:cxn>
                <a:cxn ang="0">
                  <a:pos x="21" y="36"/>
                </a:cxn>
                <a:cxn ang="0">
                  <a:pos x="6" y="21"/>
                </a:cxn>
                <a:cxn ang="0">
                  <a:pos x="21" y="6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32" y="41"/>
                    <a:pt x="41" y="32"/>
                    <a:pt x="41" y="21"/>
                  </a:cubicBezTo>
                  <a:cubicBezTo>
                    <a:pt x="41" y="9"/>
                    <a:pt x="32" y="0"/>
                    <a:pt x="21" y="0"/>
                  </a:cubicBezTo>
                  <a:cubicBezTo>
                    <a:pt x="10" y="0"/>
                    <a:pt x="0" y="9"/>
                    <a:pt x="0" y="21"/>
                  </a:cubicBezTo>
                  <a:cubicBezTo>
                    <a:pt x="0" y="32"/>
                    <a:pt x="10" y="41"/>
                    <a:pt x="21" y="41"/>
                  </a:cubicBezTo>
                  <a:close/>
                  <a:moveTo>
                    <a:pt x="21" y="6"/>
                  </a:moveTo>
                  <a:cubicBezTo>
                    <a:pt x="29" y="6"/>
                    <a:pt x="36" y="12"/>
                    <a:pt x="36" y="21"/>
                  </a:cubicBezTo>
                  <a:cubicBezTo>
                    <a:pt x="36" y="29"/>
                    <a:pt x="29" y="36"/>
                    <a:pt x="21" y="36"/>
                  </a:cubicBezTo>
                  <a:cubicBezTo>
                    <a:pt x="12" y="36"/>
                    <a:pt x="6" y="29"/>
                    <a:pt x="6" y="21"/>
                  </a:cubicBezTo>
                  <a:cubicBezTo>
                    <a:pt x="6" y="12"/>
                    <a:pt x="12" y="6"/>
                    <a:pt x="21" y="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defTabSz="911478">
                <a:defRPr/>
              </a:pPr>
              <a:endParaRPr sz="1000" b="1" kern="0">
                <a:solidFill>
                  <a:srgbClr val="1D1D1A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: Shape 58">
              <a:extLst>
                <a:ext uri="{FF2B5EF4-FFF2-40B4-BE49-F238E27FC236}">
                  <a16:creationId xmlns:a16="http://schemas.microsoft.com/office/drawing/2014/main" id="{B0BB1A2C-711A-4510-9B9E-5BD710318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388" y="3666816"/>
              <a:ext cx="184150" cy="107950"/>
            </a:xfrm>
            <a:custGeom>
              <a:avLst/>
              <a:gdLst/>
              <a:ahLst/>
              <a:cxnLst>
                <a:cxn ang="0">
                  <a:pos x="71" y="19"/>
                </a:cxn>
                <a:cxn ang="0">
                  <a:pos x="48" y="0"/>
                </a:cxn>
                <a:cxn ang="0">
                  <a:pos x="45" y="1"/>
                </a:cxn>
                <a:cxn ang="0">
                  <a:pos x="36" y="1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36" y="42"/>
                </a:cxn>
                <a:cxn ang="0">
                  <a:pos x="71" y="21"/>
                </a:cxn>
                <a:cxn ang="0">
                  <a:pos x="71" y="19"/>
                </a:cxn>
                <a:cxn ang="0">
                  <a:pos x="49" y="6"/>
                </a:cxn>
                <a:cxn ang="0">
                  <a:pos x="53" y="8"/>
                </a:cxn>
                <a:cxn ang="0">
                  <a:pos x="44" y="20"/>
                </a:cxn>
                <a:cxn ang="0">
                  <a:pos x="42" y="18"/>
                </a:cxn>
                <a:cxn ang="0">
                  <a:pos x="39" y="16"/>
                </a:cxn>
                <a:cxn ang="0">
                  <a:pos x="49" y="6"/>
                </a:cxn>
                <a:cxn ang="0">
                  <a:pos x="32" y="16"/>
                </a:cxn>
                <a:cxn ang="0">
                  <a:pos x="29" y="18"/>
                </a:cxn>
                <a:cxn ang="0">
                  <a:pos x="28" y="20"/>
                </a:cxn>
                <a:cxn ang="0">
                  <a:pos x="19" y="8"/>
                </a:cxn>
                <a:cxn ang="0">
                  <a:pos x="23" y="6"/>
                </a:cxn>
                <a:cxn ang="0">
                  <a:pos x="32" y="16"/>
                </a:cxn>
                <a:cxn ang="0">
                  <a:pos x="38" y="36"/>
                </a:cxn>
                <a:cxn ang="0">
                  <a:pos x="38" y="24"/>
                </a:cxn>
                <a:cxn ang="0">
                  <a:pos x="36" y="23"/>
                </a:cxn>
                <a:cxn ang="0">
                  <a:pos x="34" y="24"/>
                </a:cxn>
                <a:cxn ang="0">
                  <a:pos x="34" y="36"/>
                </a:cxn>
                <a:cxn ang="0">
                  <a:pos x="6" y="20"/>
                </a:cxn>
                <a:cxn ang="0">
                  <a:pos x="16" y="10"/>
                </a:cxn>
                <a:cxn ang="0">
                  <a:pos x="27" y="23"/>
                </a:cxn>
                <a:cxn ang="0">
                  <a:pos x="29" y="23"/>
                </a:cxn>
                <a:cxn ang="0">
                  <a:pos x="32" y="21"/>
                </a:cxn>
                <a:cxn ang="0">
                  <a:pos x="36" y="18"/>
                </a:cxn>
                <a:cxn ang="0">
                  <a:pos x="40" y="21"/>
                </a:cxn>
                <a:cxn ang="0">
                  <a:pos x="43" y="23"/>
                </a:cxn>
                <a:cxn ang="0">
                  <a:pos x="44" y="24"/>
                </a:cxn>
                <a:cxn ang="0">
                  <a:pos x="45" y="23"/>
                </a:cxn>
                <a:cxn ang="0">
                  <a:pos x="56" y="10"/>
                </a:cxn>
                <a:cxn ang="0">
                  <a:pos x="66" y="20"/>
                </a:cxn>
                <a:cxn ang="0">
                  <a:pos x="38" y="36"/>
                </a:cxn>
              </a:cxnLst>
              <a:rect l="0" t="0" r="r" b="b"/>
              <a:pathLst>
                <a:path w="72" h="42">
                  <a:moveTo>
                    <a:pt x="71" y="19"/>
                  </a:moveTo>
                  <a:cubicBezTo>
                    <a:pt x="66" y="10"/>
                    <a:pt x="58" y="3"/>
                    <a:pt x="48" y="0"/>
                  </a:cubicBezTo>
                  <a:cubicBezTo>
                    <a:pt x="47" y="0"/>
                    <a:pt x="46" y="0"/>
                    <a:pt x="45" y="1"/>
                  </a:cubicBezTo>
                  <a:cubicBezTo>
                    <a:pt x="43" y="6"/>
                    <a:pt x="40" y="9"/>
                    <a:pt x="36" y="12"/>
                  </a:cubicBezTo>
                  <a:cubicBezTo>
                    <a:pt x="32" y="9"/>
                    <a:pt x="29" y="6"/>
                    <a:pt x="27" y="1"/>
                  </a:cubicBezTo>
                  <a:cubicBezTo>
                    <a:pt x="26" y="0"/>
                    <a:pt x="25" y="0"/>
                    <a:pt x="24" y="0"/>
                  </a:cubicBezTo>
                  <a:cubicBezTo>
                    <a:pt x="14" y="3"/>
                    <a:pt x="6" y="10"/>
                    <a:pt x="0" y="19"/>
                  </a:cubicBezTo>
                  <a:cubicBezTo>
                    <a:pt x="0" y="19"/>
                    <a:pt x="0" y="20"/>
                    <a:pt x="0" y="21"/>
                  </a:cubicBezTo>
                  <a:cubicBezTo>
                    <a:pt x="8" y="34"/>
                    <a:pt x="21" y="42"/>
                    <a:pt x="36" y="42"/>
                  </a:cubicBezTo>
                  <a:cubicBezTo>
                    <a:pt x="50" y="42"/>
                    <a:pt x="64" y="34"/>
                    <a:pt x="71" y="21"/>
                  </a:cubicBezTo>
                  <a:cubicBezTo>
                    <a:pt x="72" y="20"/>
                    <a:pt x="72" y="19"/>
                    <a:pt x="71" y="19"/>
                  </a:cubicBezTo>
                  <a:close/>
                  <a:moveTo>
                    <a:pt x="49" y="6"/>
                  </a:moveTo>
                  <a:cubicBezTo>
                    <a:pt x="50" y="6"/>
                    <a:pt x="52" y="7"/>
                    <a:pt x="53" y="8"/>
                  </a:cubicBezTo>
                  <a:cubicBezTo>
                    <a:pt x="51" y="12"/>
                    <a:pt x="48" y="16"/>
                    <a:pt x="44" y="20"/>
                  </a:cubicBezTo>
                  <a:cubicBezTo>
                    <a:pt x="43" y="19"/>
                    <a:pt x="43" y="19"/>
                    <a:pt x="42" y="18"/>
                  </a:cubicBezTo>
                  <a:cubicBezTo>
                    <a:pt x="41" y="18"/>
                    <a:pt x="40" y="17"/>
                    <a:pt x="39" y="16"/>
                  </a:cubicBezTo>
                  <a:cubicBezTo>
                    <a:pt x="43" y="13"/>
                    <a:pt x="46" y="10"/>
                    <a:pt x="49" y="6"/>
                  </a:cubicBezTo>
                  <a:close/>
                  <a:moveTo>
                    <a:pt x="32" y="16"/>
                  </a:moveTo>
                  <a:cubicBezTo>
                    <a:pt x="31" y="17"/>
                    <a:pt x="30" y="18"/>
                    <a:pt x="29" y="18"/>
                  </a:cubicBezTo>
                  <a:cubicBezTo>
                    <a:pt x="29" y="19"/>
                    <a:pt x="28" y="19"/>
                    <a:pt x="28" y="20"/>
                  </a:cubicBezTo>
                  <a:cubicBezTo>
                    <a:pt x="24" y="16"/>
                    <a:pt x="21" y="12"/>
                    <a:pt x="19" y="8"/>
                  </a:cubicBezTo>
                  <a:cubicBezTo>
                    <a:pt x="20" y="7"/>
                    <a:pt x="22" y="6"/>
                    <a:pt x="23" y="6"/>
                  </a:cubicBezTo>
                  <a:cubicBezTo>
                    <a:pt x="25" y="10"/>
                    <a:pt x="29" y="13"/>
                    <a:pt x="32" y="16"/>
                  </a:cubicBezTo>
                  <a:close/>
                  <a:moveTo>
                    <a:pt x="38" y="36"/>
                  </a:moveTo>
                  <a:cubicBezTo>
                    <a:pt x="38" y="24"/>
                    <a:pt x="38" y="24"/>
                    <a:pt x="38" y="24"/>
                  </a:cubicBezTo>
                  <a:cubicBezTo>
                    <a:pt x="38" y="23"/>
                    <a:pt x="37" y="23"/>
                    <a:pt x="36" y="23"/>
                  </a:cubicBezTo>
                  <a:cubicBezTo>
                    <a:pt x="35" y="23"/>
                    <a:pt x="34" y="23"/>
                    <a:pt x="34" y="2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23" y="36"/>
                    <a:pt x="12" y="30"/>
                    <a:pt x="6" y="20"/>
                  </a:cubicBezTo>
                  <a:cubicBezTo>
                    <a:pt x="8" y="16"/>
                    <a:pt x="12" y="12"/>
                    <a:pt x="16" y="10"/>
                  </a:cubicBezTo>
                  <a:cubicBezTo>
                    <a:pt x="18" y="14"/>
                    <a:pt x="22" y="19"/>
                    <a:pt x="27" y="23"/>
                  </a:cubicBezTo>
                  <a:cubicBezTo>
                    <a:pt x="27" y="24"/>
                    <a:pt x="28" y="24"/>
                    <a:pt x="29" y="23"/>
                  </a:cubicBezTo>
                  <a:cubicBezTo>
                    <a:pt x="30" y="23"/>
                    <a:pt x="31" y="22"/>
                    <a:pt x="32" y="21"/>
                  </a:cubicBezTo>
                  <a:cubicBezTo>
                    <a:pt x="33" y="20"/>
                    <a:pt x="34" y="19"/>
                    <a:pt x="36" y="18"/>
                  </a:cubicBezTo>
                  <a:cubicBezTo>
                    <a:pt x="37" y="19"/>
                    <a:pt x="39" y="20"/>
                    <a:pt x="40" y="21"/>
                  </a:cubicBezTo>
                  <a:cubicBezTo>
                    <a:pt x="41" y="22"/>
                    <a:pt x="42" y="23"/>
                    <a:pt x="43" y="23"/>
                  </a:cubicBezTo>
                  <a:cubicBezTo>
                    <a:pt x="43" y="24"/>
                    <a:pt x="43" y="24"/>
                    <a:pt x="44" y="24"/>
                  </a:cubicBezTo>
                  <a:cubicBezTo>
                    <a:pt x="44" y="24"/>
                    <a:pt x="45" y="24"/>
                    <a:pt x="45" y="23"/>
                  </a:cubicBezTo>
                  <a:cubicBezTo>
                    <a:pt x="50" y="19"/>
                    <a:pt x="53" y="14"/>
                    <a:pt x="56" y="10"/>
                  </a:cubicBezTo>
                  <a:cubicBezTo>
                    <a:pt x="60" y="12"/>
                    <a:pt x="63" y="16"/>
                    <a:pt x="66" y="20"/>
                  </a:cubicBezTo>
                  <a:cubicBezTo>
                    <a:pt x="60" y="30"/>
                    <a:pt x="49" y="36"/>
                    <a:pt x="38" y="3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 defTabSz="911478">
                <a:defRPr/>
              </a:pPr>
              <a:endParaRPr sz="1000" b="1" kern="0" dirty="0">
                <a:solidFill>
                  <a:srgbClr val="1D1D1A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F30DD94-A4BF-4006-BFD1-D9A66DA94C1B}"/>
              </a:ext>
            </a:extLst>
          </p:cNvPr>
          <p:cNvCxnSpPr>
            <a:cxnSpLocks/>
          </p:cNvCxnSpPr>
          <p:nvPr/>
        </p:nvCxnSpPr>
        <p:spPr>
          <a:xfrm>
            <a:off x="936902" y="1890182"/>
            <a:ext cx="1010738" cy="3800"/>
          </a:xfrm>
          <a:prstGeom prst="straightConnector1">
            <a:avLst/>
          </a:prstGeom>
          <a:noFill/>
          <a:ln w="19050" cap="flat" cmpd="sng" algn="ctr">
            <a:solidFill>
              <a:srgbClr val="666666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424E8A3F-6EB9-44E3-94CB-DD4926523373}"/>
              </a:ext>
            </a:extLst>
          </p:cNvPr>
          <p:cNvSpPr/>
          <p:nvPr/>
        </p:nvSpPr>
        <p:spPr>
          <a:xfrm>
            <a:off x="1721837" y="3252453"/>
            <a:ext cx="5349705" cy="1709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A2A-T intent translation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0D8E83-55BC-4F90-8FBF-97AE244EDC6D}"/>
              </a:ext>
            </a:extLst>
          </p:cNvPr>
          <p:cNvSpPr/>
          <p:nvPr/>
        </p:nvSpPr>
        <p:spPr>
          <a:xfrm>
            <a:off x="2186153" y="1725560"/>
            <a:ext cx="2216210" cy="358124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Translate energy-saving intentions</a:t>
            </a: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(Region, energy-saving target, safeguard target)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ABD83D-9CD4-44AD-AA9F-AEC108F1E1A1}"/>
              </a:ext>
            </a:extLst>
          </p:cNvPr>
          <p:cNvSpPr/>
          <p:nvPr/>
        </p:nvSpPr>
        <p:spPr>
          <a:xfrm>
            <a:off x="4628932" y="1745093"/>
            <a:ext cx="2269725" cy="338591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 defTabSz="914034"/>
            <a:r>
              <a:rPr lang="en-US" altLang="zh-CN" sz="7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‌Integration of electricity price synergy and energy-saving intentions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7DA383-FF0F-411D-ABC3-A13ADC7886D0}"/>
              </a:ext>
            </a:extLst>
          </p:cNvPr>
          <p:cNvSpPr/>
          <p:nvPr/>
        </p:nvSpPr>
        <p:spPr>
          <a:xfrm>
            <a:off x="2186153" y="1418765"/>
            <a:ext cx="2223632" cy="243274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Obtain and parse dynamic electricity pricing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079E83-B484-4946-A533-B56DEEAED821}"/>
              </a:ext>
            </a:extLst>
          </p:cNvPr>
          <p:cNvSpPr/>
          <p:nvPr/>
        </p:nvSpPr>
        <p:spPr>
          <a:xfrm>
            <a:off x="2176539" y="2240827"/>
            <a:ext cx="4712504" cy="309925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Converting intents of </a:t>
            </a:r>
            <a:r>
              <a:rPr lang="en-US" altLang="zh-CN" sz="7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Electricity price synergy and energy conservation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into A2A-T interface information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19481D0-1E3E-46D0-8FBF-CE86073899EA}"/>
              </a:ext>
            </a:extLst>
          </p:cNvPr>
          <p:cNvCxnSpPr>
            <a:cxnSpLocks/>
          </p:cNvCxnSpPr>
          <p:nvPr/>
        </p:nvCxnSpPr>
        <p:spPr>
          <a:xfrm>
            <a:off x="5806464" y="2111078"/>
            <a:ext cx="0" cy="131702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07DB67A-65E6-4095-AE1F-CA08325A5061}"/>
              </a:ext>
            </a:extLst>
          </p:cNvPr>
          <p:cNvCxnSpPr>
            <a:cxnSpLocks/>
          </p:cNvCxnSpPr>
          <p:nvPr/>
        </p:nvCxnSpPr>
        <p:spPr>
          <a:xfrm>
            <a:off x="4402363" y="1855627"/>
            <a:ext cx="198406" cy="3969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8A8147-863E-435F-B785-536E4459C43E}"/>
              </a:ext>
            </a:extLst>
          </p:cNvPr>
          <p:cNvSpPr txBox="1"/>
          <p:nvPr/>
        </p:nvSpPr>
        <p:spPr>
          <a:xfrm>
            <a:off x="904778" y="1253009"/>
            <a:ext cx="527836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kumimoji="1" lang="en-US" altLang="zh-CN" sz="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Energy saving and experience assurance intents</a:t>
            </a:r>
            <a:endParaRPr kumimoji="1" lang="zh-CN" altLang="en-US" sz="8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DE41E31-070D-4359-ADAE-A6F6714D8FC3}"/>
              </a:ext>
            </a:extLst>
          </p:cNvPr>
          <p:cNvCxnSpPr>
            <a:cxnSpLocks/>
          </p:cNvCxnSpPr>
          <p:nvPr/>
        </p:nvCxnSpPr>
        <p:spPr>
          <a:xfrm flipV="1">
            <a:off x="4430143" y="2585282"/>
            <a:ext cx="0" cy="473949"/>
          </a:xfrm>
          <a:prstGeom prst="line">
            <a:avLst/>
          </a:prstGeom>
          <a:noFill/>
          <a:ln w="19050" cap="flat" cmpd="sng" algn="ctr">
            <a:solidFill>
              <a:srgbClr val="92D050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ED54320A-7B21-4A87-9F5F-7FD5D19F0BEE}"/>
              </a:ext>
            </a:extLst>
          </p:cNvPr>
          <p:cNvGraphicFramePr>
            <a:graphicFrameLocks noGrp="1"/>
          </p:cNvGraphicFramePr>
          <p:nvPr/>
        </p:nvGraphicFramePr>
        <p:xfrm>
          <a:off x="7959000" y="1904622"/>
          <a:ext cx="3428685" cy="1022579"/>
        </p:xfrm>
        <a:graphic>
          <a:graphicData uri="http://schemas.openxmlformats.org/drawingml/2006/table">
            <a:tbl>
              <a:tblPr/>
              <a:tblGrid>
                <a:gridCol w="790589">
                  <a:extLst>
                    <a:ext uri="{9D8B030D-6E8A-4147-A177-3AD203B41FA5}">
                      <a16:colId xmlns:a16="http://schemas.microsoft.com/office/drawing/2014/main" val="474336236"/>
                    </a:ext>
                  </a:extLst>
                </a:gridCol>
                <a:gridCol w="1445173">
                  <a:extLst>
                    <a:ext uri="{9D8B030D-6E8A-4147-A177-3AD203B41FA5}">
                      <a16:colId xmlns:a16="http://schemas.microsoft.com/office/drawing/2014/main" val="1192779487"/>
                    </a:ext>
                  </a:extLst>
                </a:gridCol>
                <a:gridCol w="1192923">
                  <a:extLst>
                    <a:ext uri="{9D8B030D-6E8A-4147-A177-3AD203B41FA5}">
                      <a16:colId xmlns:a16="http://schemas.microsoft.com/office/drawing/2014/main" val="2596690177"/>
                    </a:ext>
                  </a:extLst>
                </a:gridCol>
              </a:tblGrid>
              <a:tr h="1682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 period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>
                        <a:lumMod val="20000"/>
                        <a:lumOff val="80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84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1" lang="en-US" altLang="zh-CN" sz="8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Energy saving and experience assurance intents</a:t>
                      </a:r>
                      <a:endParaRPr lang="zh-CN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B5C5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443360"/>
                  </a:ext>
                </a:extLst>
              </a:tr>
              <a:tr h="1322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23~5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Maximized energy saving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 rate guarantee target.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451981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6~9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Proactive energy saving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10Mbps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984127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10~15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84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Experience first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No degrade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006751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16~17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Proactive energy saving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10Mbps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279133"/>
                  </a:ext>
                </a:extLst>
              </a:tr>
              <a:tr h="150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18~22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84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Experience first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 degrade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833596"/>
                  </a:ext>
                </a:extLst>
              </a:tr>
            </a:tbl>
          </a:graphicData>
        </a:graphic>
      </p:graphicFrame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CC3CE43-AA70-46B9-804B-2317A63E3B9E}"/>
              </a:ext>
            </a:extLst>
          </p:cNvPr>
          <p:cNvCxnSpPr>
            <a:cxnSpLocks/>
          </p:cNvCxnSpPr>
          <p:nvPr/>
        </p:nvCxnSpPr>
        <p:spPr>
          <a:xfrm flipV="1">
            <a:off x="4497687" y="2958073"/>
            <a:ext cx="3412663" cy="17103"/>
          </a:xfrm>
          <a:prstGeom prst="straightConnector1">
            <a:avLst/>
          </a:prstGeom>
          <a:noFill/>
          <a:ln w="6350" cap="flat" cmpd="sng" algn="ctr">
            <a:solidFill>
              <a:srgbClr val="00B050"/>
            </a:solidFill>
            <a:prstDash val="dash"/>
            <a:miter lim="800000"/>
            <a:tailEnd type="triangle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777E40F9-2029-4398-B4F4-B0720EE210D9}"/>
              </a:ext>
            </a:extLst>
          </p:cNvPr>
          <p:cNvSpPr/>
          <p:nvPr/>
        </p:nvSpPr>
        <p:spPr>
          <a:xfrm>
            <a:off x="1453951" y="4804177"/>
            <a:ext cx="6013649" cy="409733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/>
          <a:lstStyle/>
          <a:p>
            <a:pPr algn="ctr" defTabSz="913130">
              <a:defRPr/>
            </a:pPr>
            <a:r>
              <a:rPr lang="en-US" altLang="zh-CN" sz="1000" b="1" kern="0">
                <a:solidFill>
                  <a:srgbClr val="1D1D1A"/>
                </a:solidFill>
                <a:latin typeface="微软雅黑"/>
                <a:ea typeface="微软雅黑"/>
              </a:rPr>
              <a:t>RAN</a:t>
            </a:r>
            <a:endParaRPr lang="en-US" altLang="zh-CN" sz="1000" b="1" kern="0" dirty="0">
              <a:solidFill>
                <a:srgbClr val="1D1D1A"/>
              </a:solidFill>
              <a:latin typeface="微软雅黑"/>
              <a:ea typeface="微软雅黑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A826CFB-171B-4140-A926-EABD24230579}"/>
              </a:ext>
            </a:extLst>
          </p:cNvPr>
          <p:cNvSpPr txBox="1"/>
          <p:nvPr/>
        </p:nvSpPr>
        <p:spPr>
          <a:xfrm>
            <a:off x="7396262" y="2804721"/>
            <a:ext cx="7423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34">
              <a:defRPr/>
            </a:pPr>
            <a:r>
              <a:rPr kumimoji="1" lang="en-US" altLang="zh-CN" sz="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Intent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FF514D-A600-419D-A38A-4B1ED8C892B4}"/>
              </a:ext>
            </a:extLst>
          </p:cNvPr>
          <p:cNvSpPr txBox="1"/>
          <p:nvPr/>
        </p:nvSpPr>
        <p:spPr>
          <a:xfrm>
            <a:off x="5217760" y="4932958"/>
            <a:ext cx="1756480" cy="215444"/>
          </a:xfrm>
          <a:prstGeom prst="rect">
            <a:avLst/>
          </a:prstGeom>
          <a:noFill/>
          <a:ln>
            <a:solidFill>
              <a:srgbClr val="666666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Data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：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CM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、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PM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、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rPr>
              <a:t>MR/CHR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C564DB33-BAAC-43F9-98D5-A11D3EE23E82}"/>
              </a:ext>
            </a:extLst>
          </p:cNvPr>
          <p:cNvCxnSpPr>
            <a:cxnSpLocks/>
            <a:stCxn id="17" idx="3"/>
            <a:endCxn id="16" idx="0"/>
          </p:cNvCxnSpPr>
          <p:nvPr/>
        </p:nvCxnSpPr>
        <p:spPr>
          <a:xfrm>
            <a:off x="4409785" y="1540402"/>
            <a:ext cx="1354010" cy="204691"/>
          </a:xfrm>
          <a:prstGeom prst="bentConnector2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6D6119ED-813E-4F75-986B-0E8023E55748}"/>
              </a:ext>
            </a:extLst>
          </p:cNvPr>
          <p:cNvSpPr/>
          <p:nvPr/>
        </p:nvSpPr>
        <p:spPr>
          <a:xfrm>
            <a:off x="1721838" y="3574115"/>
            <a:ext cx="5349704" cy="283582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Planning the lithium battery charge and discharge periods based on electricity prices</a:t>
            </a:r>
          </a:p>
        </p:txBody>
      </p: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FBC93988-B9AA-45A3-BF89-AFDF1B0EDEF6}"/>
              </a:ext>
            </a:extLst>
          </p:cNvPr>
          <p:cNvCxnSpPr>
            <a:cxnSpLocks/>
          </p:cNvCxnSpPr>
          <p:nvPr/>
        </p:nvCxnSpPr>
        <p:spPr>
          <a:xfrm flipV="1">
            <a:off x="5544134" y="4549238"/>
            <a:ext cx="0" cy="320738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57A0EF80-6FE1-42B2-8F19-E48841ADF3C2}"/>
              </a:ext>
            </a:extLst>
          </p:cNvPr>
          <p:cNvSpPr txBox="1"/>
          <p:nvPr/>
        </p:nvSpPr>
        <p:spPr>
          <a:xfrm>
            <a:off x="1721837" y="4901321"/>
            <a:ext cx="1756480" cy="215444"/>
          </a:xfrm>
          <a:prstGeom prst="rect">
            <a:avLst/>
          </a:prstGeom>
          <a:noFill/>
          <a:ln>
            <a:solidFill>
              <a:srgbClr val="666666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en-US" altLang="zh-CN" dirty="0"/>
              <a:t>Staggering Electricity Usage</a:t>
            </a:r>
            <a:endParaRPr lang="en-US" altLang="zh-CN" u="sng" dirty="0">
              <a:solidFill>
                <a:schemeClr val="tx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0FFE2D0-7264-4E00-BD42-E5A7D112917C}"/>
              </a:ext>
            </a:extLst>
          </p:cNvPr>
          <p:cNvSpPr/>
          <p:nvPr/>
        </p:nvSpPr>
        <p:spPr>
          <a:xfrm>
            <a:off x="1721838" y="4056360"/>
            <a:ext cx="5349704" cy="283582"/>
          </a:xfrm>
          <a:prstGeom prst="rect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Staggering Electricity Usage MML Generation and Delivery</a:t>
            </a: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AB01C657-F034-4CF6-8DA8-F8475FA68C00}"/>
              </a:ext>
            </a:extLst>
          </p:cNvPr>
          <p:cNvCxnSpPr>
            <a:cxnSpLocks/>
          </p:cNvCxnSpPr>
          <p:nvPr/>
        </p:nvCxnSpPr>
        <p:spPr>
          <a:xfrm flipV="1">
            <a:off x="4421354" y="3857697"/>
            <a:ext cx="0" cy="20374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09E43BCB-182E-49DF-9258-207667E6F304}"/>
              </a:ext>
            </a:extLst>
          </p:cNvPr>
          <p:cNvCxnSpPr>
            <a:cxnSpLocks/>
          </p:cNvCxnSpPr>
          <p:nvPr/>
        </p:nvCxnSpPr>
        <p:spPr>
          <a:xfrm flipV="1">
            <a:off x="4430143" y="3423379"/>
            <a:ext cx="0" cy="203749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C4F8F19C-5F04-4C84-9975-88A38BDEBB92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2600077" y="4606356"/>
            <a:ext cx="0" cy="294965"/>
          </a:xfrm>
          <a:prstGeom prst="line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3157BFC2-933B-46AA-8819-BFE4ADEA1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775155"/>
              </p:ext>
            </p:extLst>
          </p:nvPr>
        </p:nvGraphicFramePr>
        <p:xfrm>
          <a:off x="7959000" y="3071863"/>
          <a:ext cx="3371152" cy="906780"/>
        </p:xfrm>
        <a:graphic>
          <a:graphicData uri="http://schemas.openxmlformats.org/drawingml/2006/table">
            <a:tbl>
              <a:tblPr/>
              <a:tblGrid>
                <a:gridCol w="1437248">
                  <a:extLst>
                    <a:ext uri="{9D8B030D-6E8A-4147-A177-3AD203B41FA5}">
                      <a16:colId xmlns:a16="http://schemas.microsoft.com/office/drawing/2014/main" val="3814856145"/>
                    </a:ext>
                  </a:extLst>
                </a:gridCol>
                <a:gridCol w="1933904">
                  <a:extLst>
                    <a:ext uri="{9D8B030D-6E8A-4147-A177-3AD203B41FA5}">
                      <a16:colId xmlns:a16="http://schemas.microsoft.com/office/drawing/2014/main" val="1061769191"/>
                    </a:ext>
                  </a:extLst>
                </a:gridCol>
              </a:tblGrid>
              <a:tr h="6394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r>
                        <a:rPr lang="en-US" altLang="zh-CN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Peroid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Price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329546"/>
                  </a:ext>
                </a:extLst>
              </a:tr>
              <a:tr h="6394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0~5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186848" rtl="0" eaLnBrk="1" fontAlgn="ctr" latinLnBrk="0" hangingPunct="1"/>
                      <a:r>
                        <a:rPr lang="en-US" altLang="zh-CN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411009"/>
                  </a:ext>
                </a:extLst>
              </a:tr>
              <a:tr h="5936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6~9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1.176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364253"/>
                  </a:ext>
                </a:extLst>
              </a:tr>
              <a:tr h="1152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10~15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112468"/>
                  </a:ext>
                </a:extLst>
              </a:tr>
              <a:tr h="1152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16~17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1.176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199284"/>
                  </a:ext>
                </a:extLst>
              </a:tr>
              <a:tr h="1152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18~21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2091591"/>
                  </a:ext>
                </a:extLst>
              </a:tr>
              <a:tr h="1152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22~23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1.176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761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4512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3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3804</TotalTime>
  <Words>426</Words>
  <Application>Microsoft Office PowerPoint</Application>
  <PresentationFormat>宽屏</PresentationFormat>
  <Paragraphs>140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Aptos</vt:lpstr>
      <vt:lpstr>Aptos Display</vt:lpstr>
      <vt:lpstr>等线</vt:lpstr>
      <vt:lpstr>Microsoft YaHei</vt:lpstr>
      <vt:lpstr>Microsoft YaHei</vt:lpstr>
      <vt:lpstr>Arial</vt:lpstr>
      <vt:lpstr>Calibri</vt:lpstr>
      <vt:lpstr>1_Office Theme</vt:lpstr>
      <vt:lpstr>17_章节页</vt:lpstr>
      <vt:lpstr>封面页_图片版 </vt:lpstr>
      <vt:lpstr>OPEN AN UC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Pourya Mehrpouyan</dc:creator>
  <cp:lastModifiedBy>Wujing (A)</cp:lastModifiedBy>
  <cp:revision>184</cp:revision>
  <dcterms:created xsi:type="dcterms:W3CDTF">2026-08-04T11:04:21Z</dcterms:created>
  <dcterms:modified xsi:type="dcterms:W3CDTF">2026-09-29T07:10:39Z</dcterms:modified>
</cp:coreProperties>
</file>